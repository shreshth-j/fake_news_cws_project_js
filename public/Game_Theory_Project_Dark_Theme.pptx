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8485632" y="1709928"/>
            <a:ext cx="1179576" cy="374904"/>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9665208" y="1709928"/>
            <a:ext cx="1207008" cy="658368"/>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485632" y="2084832"/>
            <a:ext cx="576072" cy="1124712"/>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H="1">
            <a:off x="9061704" y="1709928"/>
            <a:ext cx="603504" cy="1499616"/>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665208" y="1709928"/>
            <a:ext cx="644652" cy="1650492"/>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10309860" y="2368296"/>
            <a:ext cx="562356" cy="992124"/>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872216" y="2368296"/>
            <a:ext cx="438912" cy="1536192"/>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61704" y="3209544"/>
            <a:ext cx="1248156" cy="150876"/>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8302752" y="3209544"/>
            <a:ext cx="758952" cy="1252728"/>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9601200" y="3360420"/>
            <a:ext cx="708660" cy="1303020"/>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309860" y="3360420"/>
            <a:ext cx="1001268" cy="544068"/>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10949940" y="3904488"/>
            <a:ext cx="361188" cy="1193292"/>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8302752" y="4462272"/>
            <a:ext cx="1298448" cy="201168"/>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601200" y="4663440"/>
            <a:ext cx="1348740" cy="434340"/>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601200" y="4663440"/>
            <a:ext cx="333756" cy="1065276"/>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9934956" y="5097780"/>
            <a:ext cx="1014984" cy="630936"/>
          </a:xfrm>
          <a:prstGeom prst="line">
            <a:avLst/>
          </a:prstGeom>
          <a:ln w="12700">
            <a:solidFill>
              <a:srgbClr val="1E304E"/>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8412480" y="2011680"/>
            <a:ext cx="146304" cy="146304"/>
          </a:xfrm>
          <a:prstGeom prst="ellipse">
            <a:avLst/>
          </a:prstGeom>
          <a:solidFill>
            <a:srgbClr val="00E5FF"/>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01200" y="1645920"/>
            <a:ext cx="128016" cy="128016"/>
          </a:xfrm>
          <a:prstGeom prst="ellipse">
            <a:avLst/>
          </a:prstGeom>
          <a:solidFill>
            <a:srgbClr val="00C9A7"/>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89920" y="2286000"/>
            <a:ext cx="164592" cy="164592"/>
          </a:xfrm>
          <a:prstGeom prst="ellipse">
            <a:avLst/>
          </a:prstGeom>
          <a:solidFill>
            <a:srgbClr val="6475FF"/>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961120" y="3108960"/>
            <a:ext cx="201168" cy="201168"/>
          </a:xfrm>
          <a:prstGeom prst="ellipse">
            <a:avLst/>
          </a:prstGeom>
          <a:solidFill>
            <a:srgbClr val="00E5FF"/>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241280" y="3291840"/>
            <a:ext cx="137160" cy="137160"/>
          </a:xfrm>
          <a:prstGeom prst="ellipse">
            <a:avLst/>
          </a:prstGeom>
          <a:solidFill>
            <a:srgbClr val="F1F5F9"/>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247120" y="3840480"/>
            <a:ext cx="128016" cy="128016"/>
          </a:xfrm>
          <a:prstGeom prst="ellipse">
            <a:avLst/>
          </a:prstGeom>
          <a:solidFill>
            <a:srgbClr val="00C9A7"/>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229600" y="4389120"/>
            <a:ext cx="146304" cy="146304"/>
          </a:xfrm>
          <a:prstGeom prst="ellipse">
            <a:avLst/>
          </a:prstGeom>
          <a:solidFill>
            <a:srgbClr val="6475FF"/>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509760" y="4572000"/>
            <a:ext cx="182880" cy="182880"/>
          </a:xfrm>
          <a:prstGeom prst="ellipse">
            <a:avLst/>
          </a:prstGeom>
          <a:solidFill>
            <a:srgbClr val="00E5FF"/>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881360" y="5029200"/>
            <a:ext cx="137160" cy="137160"/>
          </a:xfrm>
          <a:prstGeom prst="ellipse">
            <a:avLst/>
          </a:prstGeom>
          <a:solidFill>
            <a:srgbClr val="00C9A7"/>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75520" y="5669280"/>
            <a:ext cx="118872" cy="118872"/>
          </a:xfrm>
          <a:prstGeom prst="ellipse">
            <a:avLst/>
          </a:prstGeom>
          <a:solidFill>
            <a:srgbClr val="F1F5F9"/>
          </a:solidFill>
          <a:ln w="1905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1188720"/>
            <a:ext cx="7315200" cy="320040"/>
          </a:xfrm>
          <a:prstGeom prst="rect">
            <a:avLst/>
          </a:prstGeom>
          <a:noFill/>
        </p:spPr>
        <p:txBody>
          <a:bodyPr wrap="square" lIns="0" tIns="0" rIns="0" bIns="0">
            <a:spAutoFit/>
          </a:bodyPr>
          <a:lstStyle/>
          <a:p>
            <a:r>
              <a:rPr sz="1100" b="1">
                <a:solidFill>
                  <a:srgbClr val="00E5FF"/>
                </a:solidFill>
                <a:latin typeface="Arial"/>
              </a:rPr>
              <a:t>B.TECH ACADEMIC CAPSTONE PROJECT  //  COURSE: GAME THEORY</a:t>
            </a:r>
          </a:p>
        </p:txBody>
      </p:sp>
      <p:sp>
        <p:nvSpPr>
          <p:cNvPr id="30" name="TextBox 29"/>
          <p:cNvSpPr txBox="1"/>
          <p:nvPr/>
        </p:nvSpPr>
        <p:spPr>
          <a:xfrm>
            <a:off x="822960" y="1645920"/>
            <a:ext cx="7132320" cy="1828800"/>
          </a:xfrm>
          <a:prstGeom prst="rect">
            <a:avLst/>
          </a:prstGeom>
          <a:noFill/>
        </p:spPr>
        <p:txBody>
          <a:bodyPr wrap="square" lIns="0" tIns="0" rIns="0" bIns="0">
            <a:spAutoFit/>
          </a:bodyPr>
          <a:lstStyle/>
          <a:p>
            <a:r>
              <a:rPr sz="2700" b="1">
                <a:solidFill>
                  <a:srgbClr val="F1F5F9"/>
                </a:solidFill>
                <a:latin typeface="Arial"/>
              </a:rPr>
              <a:t>Game-Theoretic Analysis of Fake News Propagation and Platform Moderation Strategies</a:t>
            </a:r>
          </a:p>
        </p:txBody>
      </p:sp>
      <p:sp>
        <p:nvSpPr>
          <p:cNvPr id="31" name="TextBox 30"/>
          <p:cNvSpPr txBox="1"/>
          <p:nvPr/>
        </p:nvSpPr>
        <p:spPr>
          <a:xfrm>
            <a:off x="822960" y="3566160"/>
            <a:ext cx="7132320" cy="411480"/>
          </a:xfrm>
          <a:prstGeom prst="rect">
            <a:avLst/>
          </a:prstGeom>
          <a:noFill/>
        </p:spPr>
        <p:txBody>
          <a:bodyPr wrap="square" lIns="0" tIns="0" rIns="0" bIns="0">
            <a:spAutoFit/>
          </a:bodyPr>
          <a:lstStyle/>
          <a:p>
            <a:r>
              <a:rPr sz="1400">
                <a:solidFill>
                  <a:srgbClr val="A7B1C2"/>
                </a:solidFill>
                <a:latin typeface="Arial"/>
              </a:rPr>
              <a:t>Game-Theoretic Contagion and Strategic Deterrence Analysis</a:t>
            </a:r>
          </a:p>
        </p:txBody>
      </p:sp>
      <p:sp>
        <p:nvSpPr>
          <p:cNvPr id="32" name="Rectangle 31"/>
          <p:cNvSpPr/>
          <p:nvPr/>
        </p:nvSpPr>
        <p:spPr>
          <a:xfrm>
            <a:off x="822960" y="4114800"/>
            <a:ext cx="694944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 y="4389120"/>
            <a:ext cx="6949440" cy="160020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 y="4389120"/>
            <a:ext cx="6949440"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4526280"/>
            <a:ext cx="6492240" cy="1325880"/>
          </a:xfrm>
          <a:prstGeom prst="rect">
            <a:avLst/>
          </a:prstGeom>
          <a:noFill/>
        </p:spPr>
        <p:txBody>
          <a:bodyPr wrap="square" lIns="0" tIns="0" rIns="0" bIns="0">
            <a:spAutoFit/>
          </a:bodyPr>
          <a:lstStyle/>
          <a:p>
            <a:r>
              <a:rPr sz="950" b="1">
                <a:solidFill>
                  <a:srgbClr val="00E5FF"/>
                </a:solidFill>
                <a:latin typeface="Arial"/>
              </a:rPr>
              <a:t>PROJECT AUTHORS &amp; INVESTIGATORS</a:t>
            </a:r>
          </a:p>
          <a:p>
            <a:pPr>
              <a:spcBef>
                <a:spcPts val="400"/>
              </a:spcBef>
            </a:pPr>
            <a:r>
              <a:rPr sz="1200" b="1">
                <a:solidFill>
                  <a:srgbClr val="F1F5F9"/>
                </a:solidFill>
                <a:latin typeface="Arial"/>
              </a:rPr>
              <a:t>• Shreshth Juneja  —  </a:t>
            </a:r>
            <a:r>
              <a:rPr sz="1100">
                <a:solidFill>
                  <a:srgbClr val="A7B1C2"/>
                </a:solidFill>
                <a:latin typeface="Courier New"/>
              </a:rPr>
              <a:t>Registration Number: 2427030246</a:t>
            </a:r>
          </a:p>
          <a:p>
            <a:pPr>
              <a:spcBef>
                <a:spcPts val="300"/>
              </a:spcBef>
            </a:pPr>
            <a:r>
              <a:rPr sz="1200" b="1">
                <a:solidFill>
                  <a:srgbClr val="F1F5F9"/>
                </a:solidFill>
                <a:latin typeface="Arial"/>
              </a:rPr>
              <a:t>• Devaanshee Agarwal  —  </a:t>
            </a:r>
            <a:r>
              <a:rPr sz="1100">
                <a:solidFill>
                  <a:srgbClr val="A7B1C2"/>
                </a:solidFill>
                <a:latin typeface="Courier New"/>
              </a:rPr>
              <a:t>Registration Number: 2427030504</a:t>
            </a:r>
          </a:p>
          <a:p>
            <a:pPr>
              <a:spcBef>
                <a:spcPts val="600"/>
              </a:spcBef>
            </a:pPr>
            <a:r>
              <a:rPr sz="950">
                <a:solidFill>
                  <a:srgbClr val="00C9A7"/>
                </a:solidFill>
                <a:latin typeface="Arial"/>
              </a:rPr>
              <a:t>Department of Computer Science &amp; Engineering  |  Interactive Web-Native Architecture on Vercel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01 · FOUNDATIONS</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Introduction &amp; Problem Statement: The Misinformation Dilemma</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5230368" cy="388620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08760"/>
            <a:ext cx="52303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4773168" cy="3566160"/>
          </a:xfrm>
          <a:prstGeom prst="rect">
            <a:avLst/>
          </a:prstGeom>
          <a:noFill/>
        </p:spPr>
        <p:txBody>
          <a:bodyPr wrap="square" lIns="0" tIns="0" rIns="0" bIns="0">
            <a:spAutoFit/>
          </a:bodyPr>
          <a:lstStyle/>
          <a:p>
            <a:r>
              <a:rPr sz="1200" b="1">
                <a:solidFill>
                  <a:srgbClr val="00E5FF"/>
                </a:solidFill>
                <a:latin typeface="Arial"/>
              </a:rPr>
              <a:t>THE STRATEGIC SHARER (PLAYER 1)</a:t>
            </a:r>
          </a:p>
          <a:p>
            <a:pPr>
              <a:spcBef>
                <a:spcPts val="800"/>
              </a:spcBef>
            </a:pPr>
            <a:r>
              <a:rPr sz="1050" b="1">
                <a:solidFill>
                  <a:srgbClr val="F1F5F9"/>
                </a:solidFill>
                <a:latin typeface="Arial"/>
              </a:rPr>
              <a:t>▸ Virality &amp; Attention Monetization: </a:t>
            </a:r>
            <a:r>
              <a:rPr sz="1000">
                <a:solidFill>
                  <a:srgbClr val="A7B1C2"/>
                </a:solidFill>
                <a:latin typeface="Arial"/>
              </a:rPr>
              <a:t>Content sharers and publishers optimize for social engagement, clicks, ad revenue, and peer influence, prioritizing emotional resonance over factual accuracy.</a:t>
            </a:r>
          </a:p>
          <a:p>
            <a:pPr>
              <a:spcBef>
                <a:spcPts val="800"/>
              </a:spcBef>
            </a:pPr>
            <a:r>
              <a:rPr sz="1050" b="1">
                <a:solidFill>
                  <a:srgbClr val="F1F5F9"/>
                </a:solidFill>
                <a:latin typeface="Arial"/>
              </a:rPr>
              <a:t>▸ Asymmetric Transmission Advantage: </a:t>
            </a:r>
            <a:r>
              <a:rPr sz="1000">
                <a:solidFill>
                  <a:srgbClr val="A7B1C2"/>
                </a:solidFill>
                <a:latin typeface="Arial"/>
              </a:rPr>
              <a:t>Empirical network studies confirm fabricated narratives diffuse significantly faster, deeper, and more broadly than verified truth without incurrence of fact-checking friction.</a:t>
            </a:r>
          </a:p>
          <a:p>
            <a:pPr>
              <a:spcBef>
                <a:spcPts val="800"/>
              </a:spcBef>
            </a:pPr>
            <a:r>
              <a:rPr sz="1050" b="1">
                <a:solidFill>
                  <a:srgbClr val="F1F5F9"/>
                </a:solidFill>
                <a:latin typeface="Arial"/>
              </a:rPr>
              <a:t>▸ Negative Spillover Externalities: </a:t>
            </a:r>
            <a:r>
              <a:rPr sz="1000">
                <a:solidFill>
                  <a:srgbClr val="A7B1C2"/>
                </a:solidFill>
                <a:latin typeface="Arial"/>
              </a:rPr>
              <a:t>Sharers internalize private engagement benefits (+5.0) while externalizing informational pollution and epistemic harm onto the public digital ecosystem.</a:t>
            </a:r>
          </a:p>
          <a:p>
            <a:pPr>
              <a:spcBef>
                <a:spcPts val="800"/>
              </a:spcBef>
            </a:pPr>
            <a:r>
              <a:rPr sz="1050" b="1">
                <a:solidFill>
                  <a:srgbClr val="F1F5F9"/>
                </a:solidFill>
                <a:latin typeface="Arial"/>
              </a:rPr>
              <a:t>▸ Defensive Gaming: </a:t>
            </a:r>
            <a:r>
              <a:rPr sz="1000">
                <a:solidFill>
                  <a:srgbClr val="A7B1C2"/>
                </a:solidFill>
                <a:latin typeface="Arial"/>
              </a:rPr>
              <a:t>Sharers dynamically adapt dissemination tactics to circumvent passive rules, rendering static filtering policies ineffective.</a:t>
            </a:r>
          </a:p>
        </p:txBody>
      </p:sp>
      <p:sp>
        <p:nvSpPr>
          <p:cNvPr id="10" name="Rectangle 9"/>
          <p:cNvSpPr/>
          <p:nvPr/>
        </p:nvSpPr>
        <p:spPr>
          <a:xfrm>
            <a:off x="6227064" y="1508760"/>
            <a:ext cx="5230368" cy="388620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1508760"/>
            <a:ext cx="5230368"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691640"/>
            <a:ext cx="4773168" cy="3566160"/>
          </a:xfrm>
          <a:prstGeom prst="rect">
            <a:avLst/>
          </a:prstGeom>
          <a:noFill/>
        </p:spPr>
        <p:txBody>
          <a:bodyPr wrap="square" lIns="0" tIns="0" rIns="0" bIns="0">
            <a:spAutoFit/>
          </a:bodyPr>
          <a:lstStyle/>
          <a:p>
            <a:r>
              <a:rPr sz="1200" b="1">
                <a:solidFill>
                  <a:srgbClr val="6475FF"/>
                </a:solidFill>
                <a:latin typeface="Arial"/>
              </a:rPr>
              <a:t>THE PLATFORM OPERATOR (PLAYER 2)</a:t>
            </a:r>
          </a:p>
          <a:p>
            <a:pPr>
              <a:spcBef>
                <a:spcPts val="800"/>
              </a:spcBef>
            </a:pPr>
            <a:r>
              <a:rPr sz="1050" b="1">
                <a:solidFill>
                  <a:srgbClr val="F1F5F9"/>
                </a:solidFill>
                <a:latin typeface="Arial"/>
              </a:rPr>
              <a:t>▸ Engagement vs. Ecosystem Trust: </a:t>
            </a:r>
            <a:r>
              <a:rPr sz="1000">
                <a:solidFill>
                  <a:srgbClr val="A7B1C2"/>
                </a:solidFill>
                <a:latin typeface="Arial"/>
              </a:rPr>
              <a:t>Social platforms face a fundamental trade-off: permissive viral reach maximizes short-term impressions but erodes long-term user retention and advertiser trust.</a:t>
            </a:r>
          </a:p>
          <a:p>
            <a:pPr>
              <a:spcBef>
                <a:spcPts val="800"/>
              </a:spcBef>
            </a:pPr>
            <a:r>
              <a:rPr sz="1050" b="1">
                <a:solidFill>
                  <a:srgbClr val="F1F5F9"/>
                </a:solidFill>
                <a:latin typeface="Arial"/>
              </a:rPr>
              <a:t>▸ The Laissez-Faire Trap (Weak Moderation): </a:t>
            </a:r>
            <a:r>
              <a:rPr sz="1000">
                <a:solidFill>
                  <a:srgbClr val="A7B1C2"/>
                </a:solidFill>
                <a:latin typeface="Arial"/>
              </a:rPr>
              <a:t>Passive moderation saves operational compute costs but inflicts catastrophic brand damage (-4.0) when viral misinformation sparks advertiser boycotts and regulatory scrutiny.</a:t>
            </a:r>
          </a:p>
          <a:p>
            <a:pPr>
              <a:spcBef>
                <a:spcPts val="800"/>
              </a:spcBef>
            </a:pPr>
            <a:r>
              <a:rPr sz="1050" b="1">
                <a:solidFill>
                  <a:srgbClr val="F1F5F9"/>
                </a:solidFill>
                <a:latin typeface="Arial"/>
              </a:rPr>
              <a:t>▸ Active Enforcement Overhead (Strong Moderation): </a:t>
            </a:r>
            <a:r>
              <a:rPr sz="1000">
                <a:solidFill>
                  <a:srgbClr val="A7B1C2"/>
                </a:solidFill>
                <a:latin typeface="Arial"/>
              </a:rPr>
              <a:t>Algorithmic downranking, reach dampening, and automated filtering require engineering investment, but defend platform health and advertiser safety (+3.0).</a:t>
            </a:r>
          </a:p>
          <a:p>
            <a:pPr>
              <a:spcBef>
                <a:spcPts val="800"/>
              </a:spcBef>
            </a:pPr>
            <a:r>
              <a:rPr sz="1050" b="1">
                <a:solidFill>
                  <a:srgbClr val="F1F5F9"/>
                </a:solidFill>
                <a:latin typeface="Arial"/>
              </a:rPr>
              <a:t>▸ Strategic Interdependence: </a:t>
            </a:r>
            <a:r>
              <a:rPr sz="1000">
                <a:solidFill>
                  <a:srgbClr val="A7B1C2"/>
                </a:solidFill>
                <a:latin typeface="Arial"/>
              </a:rPr>
              <a:t>Because payoffs depend directly on mutual actions, isolated technical filtering fails; the challenge must be resolved game-theoretically.</a:t>
            </a:r>
          </a:p>
        </p:txBody>
      </p:sp>
      <p:sp>
        <p:nvSpPr>
          <p:cNvPr id="13" name="Rectangle 12"/>
          <p:cNvSpPr/>
          <p:nvPr/>
        </p:nvSpPr>
        <p:spPr>
          <a:xfrm>
            <a:off x="731520" y="5532120"/>
            <a:ext cx="10728655" cy="86868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532120"/>
            <a:ext cx="10728655"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596128"/>
            <a:ext cx="10271455" cy="731520"/>
          </a:xfrm>
          <a:prstGeom prst="rect">
            <a:avLst/>
          </a:prstGeom>
          <a:noFill/>
        </p:spPr>
        <p:txBody>
          <a:bodyPr wrap="square" lIns="0" tIns="0" rIns="0" bIns="0">
            <a:spAutoFit/>
          </a:bodyPr>
          <a:lstStyle/>
          <a:p>
            <a:r>
              <a:rPr sz="1000" b="1">
                <a:solidFill>
                  <a:srgbClr val="00C9A7"/>
                </a:solidFill>
                <a:latin typeface="Arial"/>
              </a:rPr>
              <a:t>CORE RESEARCH QUESTION &amp; GAME-THEORETIC ALIGNMENT: </a:t>
            </a:r>
            <a:r>
              <a:rPr sz="1000">
                <a:solidFill>
                  <a:srgbClr val="F1F5F9"/>
                </a:solidFill>
                <a:latin typeface="Arial"/>
              </a:rPr>
              <a:t>How can the interaction between rational content creators and defensive platforms be mathematically modeled to identify stable equilibrium states? Can platform policy credible deterrence structurally eliminate viral fake news incentives at equilibrium without perpetual post-hoc censorship?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02 · RESEARCH FRAMEWORK</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Objectives and Academic Scope: Research Framework</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3401568" cy="1874519"/>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08760"/>
            <a:ext cx="34015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73352"/>
            <a:ext cx="3035808" cy="1600199"/>
          </a:xfrm>
          <a:prstGeom prst="rect">
            <a:avLst/>
          </a:prstGeom>
          <a:noFill/>
        </p:spPr>
        <p:txBody>
          <a:bodyPr wrap="square" lIns="0" tIns="0" rIns="0" bIns="0">
            <a:spAutoFit/>
          </a:bodyPr>
          <a:lstStyle/>
          <a:p>
            <a:r>
              <a:rPr sz="1100" b="1">
                <a:solidFill>
                  <a:srgbClr val="00E5FF"/>
                </a:solidFill>
                <a:latin typeface="Arial"/>
              </a:rPr>
              <a:t>01 · STRATEGIC GAME FORMULATION</a:t>
            </a:r>
          </a:p>
          <a:p>
            <a:pPr>
              <a:spcBef>
                <a:spcPts val="600"/>
              </a:spcBef>
            </a:pPr>
            <a:r>
              <a:rPr sz="950">
                <a:solidFill>
                  <a:srgbClr val="A7B1C2"/>
                </a:solidFill>
                <a:latin typeface="Arial"/>
              </a:rPr>
              <a:t>Model Content Sharers and Platforms as rational decision-makers in a 2-player non-cooperative game with calibrated action sets: {Spread, Do Not Spread} and {Weak, Strong Moderation}.</a:t>
            </a:r>
          </a:p>
        </p:txBody>
      </p:sp>
      <p:sp>
        <p:nvSpPr>
          <p:cNvPr id="10" name="Rectangle 9"/>
          <p:cNvSpPr/>
          <p:nvPr/>
        </p:nvSpPr>
        <p:spPr>
          <a:xfrm>
            <a:off x="4398264" y="1508760"/>
            <a:ext cx="3401568" cy="1874519"/>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98264" y="1508760"/>
            <a:ext cx="3401568"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1144" y="1673352"/>
            <a:ext cx="3035808" cy="1600199"/>
          </a:xfrm>
          <a:prstGeom prst="rect">
            <a:avLst/>
          </a:prstGeom>
          <a:noFill/>
        </p:spPr>
        <p:txBody>
          <a:bodyPr wrap="square" lIns="0" tIns="0" rIns="0" bIns="0">
            <a:spAutoFit/>
          </a:bodyPr>
          <a:lstStyle/>
          <a:p>
            <a:r>
              <a:rPr sz="1100" b="1">
                <a:solidFill>
                  <a:srgbClr val="00C9A7"/>
                </a:solidFill>
                <a:latin typeface="Arial"/>
              </a:rPr>
              <a:t>02 · 2×2 PAYOFF MATRIX</a:t>
            </a:r>
          </a:p>
          <a:p>
            <a:pPr>
              <a:spcBef>
                <a:spcPts val="600"/>
              </a:spcBef>
            </a:pPr>
            <a:r>
              <a:rPr sz="950">
                <a:solidFill>
                  <a:srgbClr val="A7B1C2"/>
                </a:solidFill>
                <a:latin typeface="Arial"/>
              </a:rPr>
              <a:t>Construct a strategic normal-form matrix parameterizing virality rewards, brand damage (-4.0), operational moderation overhead, and compliance utilities under explicit ordering (u_Sharer, u_Platform).</a:t>
            </a:r>
          </a:p>
        </p:txBody>
      </p:sp>
      <p:sp>
        <p:nvSpPr>
          <p:cNvPr id="13" name="Rectangle 12"/>
          <p:cNvSpPr/>
          <p:nvPr/>
        </p:nvSpPr>
        <p:spPr>
          <a:xfrm>
            <a:off x="8055864" y="1508760"/>
            <a:ext cx="3401568" cy="1874519"/>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55864" y="1508760"/>
            <a:ext cx="3401568"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38744" y="1673352"/>
            <a:ext cx="3035808" cy="1600199"/>
          </a:xfrm>
          <a:prstGeom prst="rect">
            <a:avLst/>
          </a:prstGeom>
          <a:noFill/>
        </p:spPr>
        <p:txBody>
          <a:bodyPr wrap="square" lIns="0" tIns="0" rIns="0" bIns="0">
            <a:spAutoFit/>
          </a:bodyPr>
          <a:lstStyle/>
          <a:p>
            <a:r>
              <a:rPr sz="1100" b="1">
                <a:solidFill>
                  <a:srgbClr val="6475FF"/>
                </a:solidFill>
                <a:latin typeface="Arial"/>
              </a:rPr>
              <a:t>03 · EQUILIBRIUM &amp; DOMINANCE PROOF</a:t>
            </a:r>
          </a:p>
          <a:p>
            <a:pPr>
              <a:spcBef>
                <a:spcPts val="600"/>
              </a:spcBef>
            </a:pPr>
            <a:r>
              <a:rPr sz="950">
                <a:solidFill>
                  <a:srgbClr val="A7B1C2"/>
                </a:solidFill>
                <a:latin typeface="Arial"/>
              </a:rPr>
              <a:t>Rigorously calculate player best-response correspondences, establish strict dominance of Strong Moderation (M ≻ W), and prove the unique pure-strategy Nash equilibrium at (N, M).</a:t>
            </a:r>
          </a:p>
        </p:txBody>
      </p:sp>
      <p:sp>
        <p:nvSpPr>
          <p:cNvPr id="16" name="Rectangle 15"/>
          <p:cNvSpPr/>
          <p:nvPr/>
        </p:nvSpPr>
        <p:spPr>
          <a:xfrm>
            <a:off x="731520" y="3566160"/>
            <a:ext cx="3401568" cy="1874519"/>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566160"/>
            <a:ext cx="34015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730752"/>
            <a:ext cx="3035808" cy="1600199"/>
          </a:xfrm>
          <a:prstGeom prst="rect">
            <a:avLst/>
          </a:prstGeom>
          <a:noFill/>
        </p:spPr>
        <p:txBody>
          <a:bodyPr wrap="square" lIns="0" tIns="0" rIns="0" bIns="0">
            <a:spAutoFit/>
          </a:bodyPr>
          <a:lstStyle/>
          <a:p>
            <a:r>
              <a:rPr sz="1100" b="1">
                <a:solidFill>
                  <a:srgbClr val="00E5FF"/>
                </a:solidFill>
                <a:latin typeface="Arial"/>
              </a:rPr>
              <a:t>04 · LOGISTIC CONTAGION COUPLING</a:t>
            </a:r>
          </a:p>
          <a:p>
            <a:pPr>
              <a:spcBef>
                <a:spcPts val="600"/>
              </a:spcBef>
            </a:pPr>
            <a:r>
              <a:rPr sz="950">
                <a:solidFill>
                  <a:srgbClr val="A7B1C2"/>
                </a:solidFill>
                <a:latin typeface="Arial"/>
              </a:rPr>
              <a:t>Coupling microeconomic strategic payoffs with macroeconomic contagion via a discrete logistic recurrence with platform moderation damping factor (1 - m).</a:t>
            </a:r>
          </a:p>
        </p:txBody>
      </p:sp>
      <p:sp>
        <p:nvSpPr>
          <p:cNvPr id="19" name="Rectangle 18"/>
          <p:cNvSpPr/>
          <p:nvPr/>
        </p:nvSpPr>
        <p:spPr>
          <a:xfrm>
            <a:off x="4398264" y="3566160"/>
            <a:ext cx="3401568" cy="1874519"/>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98264" y="3566160"/>
            <a:ext cx="3401568"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81144" y="3730752"/>
            <a:ext cx="3035808" cy="1600199"/>
          </a:xfrm>
          <a:prstGeom prst="rect">
            <a:avLst/>
          </a:prstGeom>
          <a:noFill/>
        </p:spPr>
        <p:txBody>
          <a:bodyPr wrap="square" lIns="0" tIns="0" rIns="0" bIns="0">
            <a:spAutoFit/>
          </a:bodyPr>
          <a:lstStyle/>
          <a:p>
            <a:r>
              <a:rPr sz="1100" b="1">
                <a:solidFill>
                  <a:srgbClr val="00C9A7"/>
                </a:solidFill>
                <a:latin typeface="Arial"/>
              </a:rPr>
              <a:t>05 · QUANTITATIVE METRICS EVALUATION</a:t>
            </a:r>
          </a:p>
          <a:p>
            <a:pPr>
              <a:spcBef>
                <a:spcPts val="600"/>
              </a:spcBef>
            </a:pPr>
            <a:r>
              <a:rPr sz="950">
                <a:solidFill>
                  <a:srgbClr val="A7B1C2"/>
                </a:solidFill>
                <a:latin typeface="Arial"/>
              </a:rPr>
              <a:t>Measure cumulative exposure saturation, outbreak peak step shifting, total shielded users (4,044), and net percentage exposure reduction (40.5%).</a:t>
            </a:r>
          </a:p>
        </p:txBody>
      </p:sp>
      <p:sp>
        <p:nvSpPr>
          <p:cNvPr id="22" name="Rectangle 21"/>
          <p:cNvSpPr/>
          <p:nvPr/>
        </p:nvSpPr>
        <p:spPr>
          <a:xfrm>
            <a:off x="8055864" y="3566160"/>
            <a:ext cx="3401568" cy="1874519"/>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055864" y="3566160"/>
            <a:ext cx="3401568"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38744" y="3730752"/>
            <a:ext cx="3035808" cy="1600199"/>
          </a:xfrm>
          <a:prstGeom prst="rect">
            <a:avLst/>
          </a:prstGeom>
          <a:noFill/>
        </p:spPr>
        <p:txBody>
          <a:bodyPr wrap="square" lIns="0" tIns="0" rIns="0" bIns="0">
            <a:spAutoFit/>
          </a:bodyPr>
          <a:lstStyle/>
          <a:p>
            <a:r>
              <a:rPr sz="1100" b="1">
                <a:solidFill>
                  <a:srgbClr val="6475FF"/>
                </a:solidFill>
                <a:latin typeface="Arial"/>
              </a:rPr>
              <a:t>06 · PRODUCTION WEB-NATIVE LAB</a:t>
            </a:r>
          </a:p>
          <a:p>
            <a:pPr>
              <a:spcBef>
                <a:spcPts val="600"/>
              </a:spcBef>
            </a:pPr>
            <a:r>
              <a:rPr sz="950">
                <a:solidFill>
                  <a:srgbClr val="A7B1C2"/>
                </a:solidFill>
                <a:latin typeface="Arial"/>
              </a:rPr>
              <a:t>Deploy a zero-backend, client-side interactive simulation laboratory built in HTML5/CSS3/JavaScript (ES modules) with dual themes, hosted on Vercel edge infrastructure.</a:t>
            </a:r>
          </a:p>
        </p:txBody>
      </p:sp>
      <p:sp>
        <p:nvSpPr>
          <p:cNvPr id="25" name="Rectangle 24"/>
          <p:cNvSpPr/>
          <p:nvPr/>
        </p:nvSpPr>
        <p:spPr>
          <a:xfrm>
            <a:off x="731520" y="5596128"/>
            <a:ext cx="10728655" cy="7772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5650992"/>
            <a:ext cx="10271455" cy="658368"/>
          </a:xfrm>
          <a:prstGeom prst="rect">
            <a:avLst/>
          </a:prstGeom>
          <a:noFill/>
        </p:spPr>
        <p:txBody>
          <a:bodyPr wrap="square" lIns="0" tIns="0" rIns="0" bIns="0">
            <a:spAutoFit/>
          </a:bodyPr>
          <a:lstStyle/>
          <a:p>
            <a:r>
              <a:rPr sz="950" b="1">
                <a:solidFill>
                  <a:srgbClr val="F1F5F9"/>
                </a:solidFill>
                <a:latin typeface="Arial"/>
              </a:rPr>
              <a:t>ACADEMIC SCOPE &amp; METHODOLOGICAL BOUNDARIES: </a:t>
            </a:r>
            <a:r>
              <a:rPr sz="950">
                <a:solidFill>
                  <a:srgbClr val="A7B1C2"/>
                </a:solidFill>
                <a:latin typeface="Arial"/>
              </a:rPr>
              <a:t>The project focuses rigorously on 2-player normal-form strategic deterrence and discrete logistic contagion. Excludes multi-stage stochastic games, dynamic network topology rewiring, and external third-party fact-checking debunking dynamics, maintaining a transparent and mathematically verifiable baseline.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03 · FORMAL MODELING</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Game-Theoretic Formulation: Players and Strategy Spaces</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5230368" cy="48920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08760"/>
            <a:ext cx="52303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4773168" cy="4572000"/>
          </a:xfrm>
          <a:prstGeom prst="rect">
            <a:avLst/>
          </a:prstGeom>
          <a:noFill/>
        </p:spPr>
        <p:txBody>
          <a:bodyPr wrap="square" lIns="0" tIns="0" rIns="0" bIns="0">
            <a:spAutoFit/>
          </a:bodyPr>
          <a:lstStyle/>
          <a:p>
            <a:r>
              <a:rPr sz="1300" b="1">
                <a:solidFill>
                  <a:srgbClr val="00E5FF"/>
                </a:solidFill>
                <a:latin typeface="Arial"/>
              </a:rPr>
              <a:t>PLAYER 1: CONTENT SHARER (PUBLISHER)</a:t>
            </a:r>
          </a:p>
          <a:p>
            <a:pPr>
              <a:spcBef>
                <a:spcPts val="300"/>
              </a:spcBef>
            </a:pPr>
            <a:r>
              <a:rPr sz="1000">
                <a:solidFill>
                  <a:srgbClr val="A7B1C2"/>
                </a:solidFill>
                <a:latin typeface="Arial"/>
              </a:rPr>
              <a:t>Strategic Goal: Maximize viral attention, click monetization, and peer influence.</a:t>
            </a:r>
          </a:p>
          <a:p>
            <a:pPr>
              <a:spcBef>
                <a:spcPts val="1200"/>
              </a:spcBef>
            </a:pPr>
            <a:r>
              <a:rPr sz="1100" b="1">
                <a:solidFill>
                  <a:srgbClr val="00E5FF"/>
                </a:solidFill>
                <a:latin typeface="Arial"/>
              </a:rPr>
              <a:t>STRATEGY S — SPREAD FAKE NEWS</a:t>
            </a:r>
          </a:p>
          <a:p>
            <a:pPr>
              <a:spcBef>
                <a:spcPts val="300"/>
              </a:spcBef>
            </a:pPr>
            <a:r>
              <a:rPr sz="1000">
                <a:solidFill>
                  <a:srgbClr val="F1F5F9"/>
                </a:solidFill>
                <a:latin typeface="Arial"/>
              </a:rPr>
              <a:t>Actively publish, amplify, or share sensationalized, unverified claims to generate viral attention, maximize retweets, and monetize ad revenue without fact-checking delays.</a:t>
            </a:r>
          </a:p>
          <a:p>
            <a:pPr>
              <a:spcBef>
                <a:spcPts val="200"/>
              </a:spcBef>
            </a:pPr>
            <a:r>
              <a:rPr sz="950">
                <a:solidFill>
                  <a:srgbClr val="A7B1C2"/>
                </a:solidFill>
                <a:latin typeface="Arial"/>
              </a:rPr>
              <a:t>▸ Utility Impact: Yields +5.0 under weak moderation; drops to -2.0 when strongly penalized.</a:t>
            </a:r>
          </a:p>
          <a:p>
            <a:pPr>
              <a:spcBef>
                <a:spcPts val="1200"/>
              </a:spcBef>
            </a:pPr>
            <a:r>
              <a:rPr sz="1100" b="1">
                <a:solidFill>
                  <a:srgbClr val="00C9A7"/>
                </a:solidFill>
                <a:latin typeface="Arial"/>
              </a:rPr>
              <a:t>STRATEGY N — DO NOT SPREAD</a:t>
            </a:r>
          </a:p>
          <a:p>
            <a:pPr>
              <a:spcBef>
                <a:spcPts val="300"/>
              </a:spcBef>
            </a:pPr>
            <a:r>
              <a:rPr sz="1000">
                <a:solidFill>
                  <a:srgbClr val="F1F5F9"/>
                </a:solidFill>
                <a:latin typeface="Arial"/>
              </a:rPr>
              <a:t>Post organic, verified content or voluntarily refrain from sharing unverified rumors, adhering strictly to platform community guidelines.</a:t>
            </a:r>
          </a:p>
          <a:p>
            <a:pPr>
              <a:spcBef>
                <a:spcPts val="200"/>
              </a:spcBef>
            </a:pPr>
            <a:r>
              <a:rPr sz="950">
                <a:solidFill>
                  <a:srgbClr val="A7B1C2"/>
                </a:solidFill>
                <a:latin typeface="Arial"/>
              </a:rPr>
              <a:t>▸ Utility Impact: Yields baseline utility +1.0 under weak moderation, and standard compliance utility 0.0 under strong moderation.</a:t>
            </a:r>
          </a:p>
        </p:txBody>
      </p:sp>
      <p:sp>
        <p:nvSpPr>
          <p:cNvPr id="10" name="Rectangle 9"/>
          <p:cNvSpPr/>
          <p:nvPr/>
        </p:nvSpPr>
        <p:spPr>
          <a:xfrm>
            <a:off x="6227064" y="1508760"/>
            <a:ext cx="5230368" cy="48920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1508760"/>
            <a:ext cx="5230368"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691640"/>
            <a:ext cx="4773168" cy="4572000"/>
          </a:xfrm>
          <a:prstGeom prst="rect">
            <a:avLst/>
          </a:prstGeom>
          <a:noFill/>
        </p:spPr>
        <p:txBody>
          <a:bodyPr wrap="square" lIns="0" tIns="0" rIns="0" bIns="0">
            <a:spAutoFit/>
          </a:bodyPr>
          <a:lstStyle/>
          <a:p>
            <a:r>
              <a:rPr sz="1300" b="1">
                <a:solidFill>
                  <a:srgbClr val="6475FF"/>
                </a:solidFill>
                <a:latin typeface="Arial"/>
              </a:rPr>
              <a:t>PLAYER 2: SOCIAL MEDIA PLATFORM (OPERATOR)</a:t>
            </a:r>
          </a:p>
          <a:p>
            <a:pPr>
              <a:spcBef>
                <a:spcPts val="300"/>
              </a:spcBef>
            </a:pPr>
            <a:r>
              <a:rPr sz="1000">
                <a:solidFill>
                  <a:srgbClr val="A7B1C2"/>
                </a:solidFill>
                <a:latin typeface="Arial"/>
              </a:rPr>
              <a:t>Strategic Goal: Protect long-term platform trust, brand safety, and network stability.</a:t>
            </a:r>
          </a:p>
          <a:p>
            <a:pPr>
              <a:spcBef>
                <a:spcPts val="1200"/>
              </a:spcBef>
            </a:pPr>
            <a:r>
              <a:rPr sz="1100" b="1">
                <a:solidFill>
                  <a:srgbClr val="F43F5E"/>
                </a:solidFill>
                <a:latin typeface="Arial"/>
              </a:rPr>
              <a:t>STRATEGY W — WEAK MODERATION</a:t>
            </a:r>
          </a:p>
          <a:p>
            <a:pPr>
              <a:spcBef>
                <a:spcPts val="300"/>
              </a:spcBef>
            </a:pPr>
            <a:r>
              <a:rPr sz="1000">
                <a:solidFill>
                  <a:srgbClr val="F1F5F9"/>
                </a:solidFill>
                <a:latin typeface="Arial"/>
              </a:rPr>
              <a:t>Passive, laissez-faire moderation relying solely on post-hoc user flags; minimizes real-time compute and moderation payroll overhead.</a:t>
            </a:r>
          </a:p>
          <a:p>
            <a:pPr>
              <a:spcBef>
                <a:spcPts val="200"/>
              </a:spcBef>
            </a:pPr>
            <a:r>
              <a:rPr sz="950">
                <a:solidFill>
                  <a:srgbClr val="A7B1C2"/>
                </a:solidFill>
                <a:latin typeface="Arial"/>
              </a:rPr>
              <a:t>▸ Utility Impact: Suffers severe brand damage (-4.0) if fake news spreads; earns 0.0 baseline under organic sharing.</a:t>
            </a:r>
          </a:p>
          <a:p>
            <a:pPr>
              <a:spcBef>
                <a:spcPts val="1200"/>
              </a:spcBef>
            </a:pPr>
            <a:r>
              <a:rPr sz="1100" b="1">
                <a:solidFill>
                  <a:srgbClr val="00C9A7"/>
                </a:solidFill>
                <a:latin typeface="Arial"/>
              </a:rPr>
              <a:t>STRATEGY M — STRONG MODERATION</a:t>
            </a:r>
          </a:p>
          <a:p>
            <a:pPr>
              <a:spcBef>
                <a:spcPts val="300"/>
              </a:spcBef>
            </a:pPr>
            <a:r>
              <a:rPr sz="1000">
                <a:solidFill>
                  <a:srgbClr val="F1F5F9"/>
                </a:solidFill>
                <a:latin typeface="Arial"/>
              </a:rPr>
              <a:t>Proactive algorithmic downranking, automated fact-checking flags, reach throttling, and account strikes against repeat misinformation publishers.</a:t>
            </a:r>
          </a:p>
          <a:p>
            <a:pPr>
              <a:spcBef>
                <a:spcPts val="200"/>
              </a:spcBef>
            </a:pPr>
            <a:r>
              <a:rPr sz="950">
                <a:solidFill>
                  <a:srgbClr val="A7B1C2"/>
                </a:solidFill>
                <a:latin typeface="Arial"/>
              </a:rPr>
              <a:t>▸ Utility Impact: Successfully deters spread and protects advertiser trust (+3.0); maintains trusted ecosystem (+2.0) under organic sharing.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04 · MATRIX ANALYSIS</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Strategic Normal-Form Payoff Matrix</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77440" y="1508760"/>
            <a:ext cx="3291840" cy="50292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377440" y="1508760"/>
            <a:ext cx="3291840" cy="36576"/>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77440" y="1600200"/>
            <a:ext cx="3291840" cy="320040"/>
          </a:xfrm>
          <a:prstGeom prst="rect">
            <a:avLst/>
          </a:prstGeom>
          <a:noFill/>
        </p:spPr>
        <p:txBody>
          <a:bodyPr wrap="square">
            <a:spAutoFit/>
          </a:bodyPr>
          <a:lstStyle/>
          <a:p>
            <a:pPr algn="ctr"/>
            <a:r>
              <a:rPr sz="1100" b="1">
                <a:solidFill>
                  <a:srgbClr val="F1F5F9"/>
                </a:solidFill>
                <a:latin typeface="Arial"/>
              </a:rPr>
              <a:t>Platform: Weak Moderation (W)</a:t>
            </a:r>
          </a:p>
        </p:txBody>
      </p:sp>
      <p:sp>
        <p:nvSpPr>
          <p:cNvPr id="10" name="Rectangle 9"/>
          <p:cNvSpPr/>
          <p:nvPr/>
        </p:nvSpPr>
        <p:spPr>
          <a:xfrm>
            <a:off x="5806440" y="1508760"/>
            <a:ext cx="3291840" cy="50292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806440" y="1508760"/>
            <a:ext cx="3291840"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06440" y="1600200"/>
            <a:ext cx="3291840" cy="320040"/>
          </a:xfrm>
          <a:prstGeom prst="rect">
            <a:avLst/>
          </a:prstGeom>
          <a:noFill/>
        </p:spPr>
        <p:txBody>
          <a:bodyPr wrap="square">
            <a:spAutoFit/>
          </a:bodyPr>
          <a:lstStyle/>
          <a:p>
            <a:pPr algn="ctr"/>
            <a:r>
              <a:rPr sz="1100" b="1">
                <a:solidFill>
                  <a:srgbClr val="00C9A7"/>
                </a:solidFill>
                <a:latin typeface="Arial"/>
              </a:rPr>
              <a:t>Platform: Strong Moderation (M)</a:t>
            </a:r>
          </a:p>
        </p:txBody>
      </p:sp>
      <p:sp>
        <p:nvSpPr>
          <p:cNvPr id="13" name="Rectangle 12"/>
          <p:cNvSpPr/>
          <p:nvPr/>
        </p:nvSpPr>
        <p:spPr>
          <a:xfrm>
            <a:off x="731520" y="2148840"/>
            <a:ext cx="1508760" cy="17373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148840"/>
            <a:ext cx="1508760"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606040"/>
            <a:ext cx="1325880" cy="914400"/>
          </a:xfrm>
          <a:prstGeom prst="rect">
            <a:avLst/>
          </a:prstGeom>
          <a:noFill/>
        </p:spPr>
        <p:txBody>
          <a:bodyPr wrap="square">
            <a:spAutoFit/>
          </a:bodyPr>
          <a:lstStyle/>
          <a:p>
            <a:r>
              <a:rPr sz="1100" b="1">
                <a:solidFill>
                  <a:srgbClr val="00E5FF"/>
                </a:solidFill>
                <a:latin typeface="Arial"/>
              </a:rPr>
              <a:t>Spread Fake News
(S)</a:t>
            </a:r>
          </a:p>
        </p:txBody>
      </p:sp>
      <p:sp>
        <p:nvSpPr>
          <p:cNvPr id="16" name="Rectangle 15"/>
          <p:cNvSpPr/>
          <p:nvPr/>
        </p:nvSpPr>
        <p:spPr>
          <a:xfrm>
            <a:off x="731520" y="4023360"/>
            <a:ext cx="1508760" cy="17373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023360"/>
            <a:ext cx="1508760" cy="3657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80560"/>
            <a:ext cx="1325880" cy="914400"/>
          </a:xfrm>
          <a:prstGeom prst="rect">
            <a:avLst/>
          </a:prstGeom>
          <a:noFill/>
        </p:spPr>
        <p:txBody>
          <a:bodyPr wrap="square">
            <a:spAutoFit/>
          </a:bodyPr>
          <a:lstStyle/>
          <a:p>
            <a:r>
              <a:rPr sz="1100" b="1">
                <a:solidFill>
                  <a:srgbClr val="F1F5F9"/>
                </a:solidFill>
                <a:latin typeface="Arial"/>
              </a:rPr>
              <a:t>Do Not Spread
(N)</a:t>
            </a:r>
          </a:p>
        </p:txBody>
      </p:sp>
      <p:sp>
        <p:nvSpPr>
          <p:cNvPr id="19" name="Rectangle 18"/>
          <p:cNvSpPr/>
          <p:nvPr/>
        </p:nvSpPr>
        <p:spPr>
          <a:xfrm>
            <a:off x="2377440" y="2148840"/>
            <a:ext cx="3291840" cy="17373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560320" y="2331720"/>
            <a:ext cx="2926080" cy="1371600"/>
          </a:xfrm>
          <a:prstGeom prst="rect">
            <a:avLst/>
          </a:prstGeom>
          <a:noFill/>
        </p:spPr>
        <p:txBody>
          <a:bodyPr wrap="square">
            <a:spAutoFit/>
          </a:bodyPr>
          <a:lstStyle/>
          <a:p>
            <a:r>
              <a:rPr sz="2000" b="1">
                <a:solidFill>
                  <a:srgbClr val="F1F5F9"/>
                </a:solidFill>
                <a:latin typeface="Courier New"/>
              </a:rPr>
              <a:t>( 5.0 , -4.0 )</a:t>
            </a:r>
          </a:p>
          <a:p>
            <a:pPr>
              <a:spcBef>
                <a:spcPts val="400"/>
              </a:spcBef>
            </a:pPr>
            <a:r>
              <a:rPr sz="1000" b="1">
                <a:solidFill>
                  <a:srgbClr val="F43F5E"/>
                </a:solidFill>
                <a:latin typeface="Arial"/>
              </a:rPr>
              <a:t>VIRAL EXPLOITATION</a:t>
            </a:r>
          </a:p>
          <a:p>
            <a:pPr>
              <a:spcBef>
                <a:spcPts val="200"/>
              </a:spcBef>
            </a:pPr>
            <a:r>
              <a:rPr sz="900">
                <a:solidFill>
                  <a:srgbClr val="A7B1C2"/>
                </a:solidFill>
                <a:latin typeface="Arial"/>
              </a:rPr>
              <a:t>Publisher harvests high clicks (+5.0); Platform incurs catastrophic advertiser &amp; brand erosion (-4.0).</a:t>
            </a:r>
          </a:p>
        </p:txBody>
      </p:sp>
      <p:sp>
        <p:nvSpPr>
          <p:cNvPr id="21" name="Rectangle 20"/>
          <p:cNvSpPr/>
          <p:nvPr/>
        </p:nvSpPr>
        <p:spPr>
          <a:xfrm>
            <a:off x="5806440" y="2148840"/>
            <a:ext cx="3291840" cy="17373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89320" y="2331720"/>
            <a:ext cx="2926080" cy="1371600"/>
          </a:xfrm>
          <a:prstGeom prst="rect">
            <a:avLst/>
          </a:prstGeom>
          <a:noFill/>
        </p:spPr>
        <p:txBody>
          <a:bodyPr wrap="square">
            <a:spAutoFit/>
          </a:bodyPr>
          <a:lstStyle/>
          <a:p>
            <a:r>
              <a:rPr sz="2000" b="1">
                <a:solidFill>
                  <a:srgbClr val="F1F5F9"/>
                </a:solidFill>
                <a:latin typeface="Courier New"/>
              </a:rPr>
              <a:t>( -2.0 ,  3.0 )</a:t>
            </a:r>
          </a:p>
          <a:p>
            <a:pPr>
              <a:spcBef>
                <a:spcPts val="400"/>
              </a:spcBef>
            </a:pPr>
            <a:r>
              <a:rPr sz="1000" b="1">
                <a:solidFill>
                  <a:srgbClr val="00E5FF"/>
                </a:solidFill>
                <a:latin typeface="Arial"/>
              </a:rPr>
              <a:t>ACTIVE DETERRENCE</a:t>
            </a:r>
          </a:p>
          <a:p>
            <a:pPr>
              <a:spcBef>
                <a:spcPts val="200"/>
              </a:spcBef>
            </a:pPr>
            <a:r>
              <a:rPr sz="900">
                <a:solidFill>
                  <a:srgbClr val="A7B1C2"/>
                </a:solidFill>
                <a:latin typeface="Arial"/>
              </a:rPr>
              <a:t>Publisher penalized by throttling (-2.0); Platform preserves brand reputation &amp; advertiser trust (+3.0).</a:t>
            </a:r>
          </a:p>
        </p:txBody>
      </p:sp>
      <p:sp>
        <p:nvSpPr>
          <p:cNvPr id="23" name="Rectangle 22"/>
          <p:cNvSpPr/>
          <p:nvPr/>
        </p:nvSpPr>
        <p:spPr>
          <a:xfrm>
            <a:off x="2377440" y="4023360"/>
            <a:ext cx="3291840" cy="17373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60320" y="4206240"/>
            <a:ext cx="2926080" cy="1371600"/>
          </a:xfrm>
          <a:prstGeom prst="rect">
            <a:avLst/>
          </a:prstGeom>
          <a:noFill/>
        </p:spPr>
        <p:txBody>
          <a:bodyPr wrap="square">
            <a:spAutoFit/>
          </a:bodyPr>
          <a:lstStyle/>
          <a:p>
            <a:r>
              <a:rPr sz="2000" b="1">
                <a:solidFill>
                  <a:srgbClr val="F1F5F9"/>
                </a:solidFill>
                <a:latin typeface="Courier New"/>
              </a:rPr>
              <a:t>( 1.0 ,  0.0 )</a:t>
            </a:r>
          </a:p>
          <a:p>
            <a:pPr>
              <a:spcBef>
                <a:spcPts val="400"/>
              </a:spcBef>
            </a:pPr>
            <a:r>
              <a:rPr sz="1000" b="1">
                <a:solidFill>
                  <a:srgbClr val="A7B1C2"/>
                </a:solidFill>
                <a:latin typeface="Arial"/>
              </a:rPr>
              <a:t>LAISSEZ-FAIRE BASELINE</a:t>
            </a:r>
          </a:p>
          <a:p>
            <a:pPr>
              <a:spcBef>
                <a:spcPts val="200"/>
              </a:spcBef>
            </a:pPr>
            <a:r>
              <a:rPr sz="900">
                <a:solidFill>
                  <a:srgbClr val="A7B1C2"/>
                </a:solidFill>
                <a:latin typeface="Arial"/>
              </a:rPr>
              <a:t>Publisher earns organic social utility (+1.0); Platform operates in passive neutral status quo (0.0).</a:t>
            </a:r>
          </a:p>
        </p:txBody>
      </p:sp>
      <p:sp>
        <p:nvSpPr>
          <p:cNvPr id="25" name="Rectangle 24"/>
          <p:cNvSpPr/>
          <p:nvPr/>
        </p:nvSpPr>
        <p:spPr>
          <a:xfrm>
            <a:off x="5806440" y="4023360"/>
            <a:ext cx="3291840" cy="1737360"/>
          </a:xfrm>
          <a:prstGeom prst="rect">
            <a:avLst/>
          </a:prstGeom>
          <a:solidFill>
            <a:srgbClr val="062C26"/>
          </a:solidFill>
          <a:ln w="1270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06440" y="4023360"/>
            <a:ext cx="3291840"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89320" y="4160520"/>
            <a:ext cx="2926080" cy="1463040"/>
          </a:xfrm>
          <a:prstGeom prst="rect">
            <a:avLst/>
          </a:prstGeom>
          <a:noFill/>
        </p:spPr>
        <p:txBody>
          <a:bodyPr wrap="square">
            <a:spAutoFit/>
          </a:bodyPr>
          <a:lstStyle/>
          <a:p>
            <a:r>
              <a:rPr sz="2000" b="1">
                <a:solidFill>
                  <a:srgbClr val="00C9A7"/>
                </a:solidFill>
                <a:latin typeface="Courier New"/>
              </a:rPr>
              <a:t>( 0.0 ,  2.0 )</a:t>
            </a:r>
          </a:p>
          <a:p>
            <a:pPr>
              <a:spcBef>
                <a:spcPts val="300"/>
              </a:spcBef>
            </a:pPr>
            <a:r>
              <a:rPr sz="1050" b="1">
                <a:solidFill>
                  <a:srgbClr val="00E5FF"/>
                </a:solidFill>
                <a:latin typeface="Arial"/>
              </a:rPr>
              <a:t>★ UNIQUE NASH EQUILIBRIUM</a:t>
            </a:r>
          </a:p>
          <a:p>
            <a:pPr>
              <a:spcBef>
                <a:spcPts val="200"/>
              </a:spcBef>
            </a:pPr>
            <a:r>
              <a:rPr sz="900">
                <a:solidFill>
                  <a:srgbClr val="F1F5F9"/>
                </a:solidFill>
                <a:latin typeface="Arial"/>
              </a:rPr>
              <a:t>Publisher maintains baseline adherence (0.0); Platform sustains high-trust ecosystem (+2.0).</a:t>
            </a:r>
          </a:p>
        </p:txBody>
      </p:sp>
      <p:sp>
        <p:nvSpPr>
          <p:cNvPr id="28" name="Rectangle 27"/>
          <p:cNvSpPr/>
          <p:nvPr/>
        </p:nvSpPr>
        <p:spPr>
          <a:xfrm>
            <a:off x="9281160" y="1508760"/>
            <a:ext cx="2176272" cy="411480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281160" y="1508760"/>
            <a:ext cx="2176272"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45752" y="1691640"/>
            <a:ext cx="1847088" cy="3749039"/>
          </a:xfrm>
          <a:prstGeom prst="rect">
            <a:avLst/>
          </a:prstGeom>
          <a:noFill/>
        </p:spPr>
        <p:txBody>
          <a:bodyPr wrap="square" lIns="0" tIns="0" rIns="0" bIns="0">
            <a:spAutoFit/>
          </a:bodyPr>
          <a:lstStyle/>
          <a:p>
            <a:r>
              <a:rPr sz="1100" b="1">
                <a:solidFill>
                  <a:srgbClr val="00E5FF"/>
                </a:solidFill>
                <a:latin typeface="Arial"/>
              </a:rPr>
              <a:t>NOTATION &amp; RULES</a:t>
            </a:r>
          </a:p>
          <a:p>
            <a:pPr>
              <a:spcBef>
                <a:spcPts val="800"/>
              </a:spcBef>
            </a:pPr>
            <a:r>
              <a:rPr sz="950" b="1">
                <a:solidFill>
                  <a:srgbClr val="F1F5F9"/>
                </a:solidFill>
                <a:latin typeface="Arial"/>
              </a:rPr>
              <a:t>Payoff Tuple:
</a:t>
            </a:r>
            <a:r>
              <a:rPr sz="900">
                <a:solidFill>
                  <a:srgbClr val="A7B1C2"/>
                </a:solidFill>
                <a:latin typeface="Arial"/>
              </a:rPr>
              <a:t>(u_Sharer, u_Platform)</a:t>
            </a:r>
          </a:p>
          <a:p>
            <a:pPr>
              <a:spcBef>
                <a:spcPts val="800"/>
              </a:spcBef>
            </a:pPr>
            <a:r>
              <a:rPr sz="950" b="1">
                <a:solidFill>
                  <a:srgbClr val="F1F5F9"/>
                </a:solidFill>
                <a:latin typeface="Arial"/>
              </a:rPr>
              <a:t>Non-Zero-Sum:
</a:t>
            </a:r>
            <a:r>
              <a:rPr sz="900">
                <a:solidFill>
                  <a:srgbClr val="A7B1C2"/>
                </a:solidFill>
                <a:latin typeface="Arial"/>
              </a:rPr>
              <a:t>Total payoffs range from +1.0 in (S,W) to +2.0 in (N,M).</a:t>
            </a:r>
          </a:p>
          <a:p>
            <a:pPr>
              <a:spcBef>
                <a:spcPts val="800"/>
              </a:spcBef>
            </a:pPr>
            <a:r>
              <a:rPr sz="950" b="1">
                <a:solidFill>
                  <a:srgbClr val="F1F5F9"/>
                </a:solidFill>
                <a:latin typeface="Arial"/>
              </a:rPr>
              <a:t>Strict Dominance:
</a:t>
            </a:r>
            <a:r>
              <a:rPr sz="900">
                <a:solidFill>
                  <a:srgbClr val="A7B1C2"/>
                </a:solidFill>
                <a:latin typeface="Arial"/>
              </a:rPr>
              <a:t>Platform strictly prefers M regardless of Sharer action.</a:t>
            </a:r>
          </a:p>
          <a:p>
            <a:pPr>
              <a:spcBef>
                <a:spcPts val="800"/>
              </a:spcBef>
            </a:pPr>
            <a:r>
              <a:rPr sz="950" b="1">
                <a:solidFill>
                  <a:srgbClr val="F1F5F9"/>
                </a:solidFill>
                <a:latin typeface="Arial"/>
              </a:rPr>
              <a:t>Stability Property:
</a:t>
            </a:r>
            <a:r>
              <a:rPr sz="900">
                <a:solidFill>
                  <a:srgbClr val="A7B1C2"/>
                </a:solidFill>
                <a:latin typeface="Arial"/>
              </a:rPr>
              <a:t>Neither agent has a profitable unilateral deviation at (N, M).</a:t>
            </a:r>
          </a:p>
        </p:txBody>
      </p:sp>
      <p:sp>
        <p:nvSpPr>
          <p:cNvPr id="31" name="Rectangle 30"/>
          <p:cNvSpPr/>
          <p:nvPr/>
        </p:nvSpPr>
        <p:spPr>
          <a:xfrm>
            <a:off x="731520" y="5715000"/>
            <a:ext cx="10728655" cy="68580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520" y="5715000"/>
            <a:ext cx="10728655"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0120" y="5779008"/>
            <a:ext cx="10271455" cy="548640"/>
          </a:xfrm>
          <a:prstGeom prst="rect">
            <a:avLst/>
          </a:prstGeom>
          <a:noFill/>
        </p:spPr>
        <p:txBody>
          <a:bodyPr wrap="square" lIns="0" tIns="0" rIns="0" bIns="0">
            <a:spAutoFit/>
          </a:bodyPr>
          <a:lstStyle/>
          <a:p>
            <a:r>
              <a:rPr sz="950" b="1">
                <a:solidFill>
                  <a:srgbClr val="00C9A7"/>
                </a:solidFill>
                <a:latin typeface="Arial"/>
              </a:rPr>
              <a:t>STRATEGIC TAKEAWAY: </a:t>
            </a:r>
            <a:r>
              <a:rPr sz="950">
                <a:solidFill>
                  <a:srgbClr val="F1F5F9"/>
                </a:solidFill>
                <a:latin typeface="Arial"/>
              </a:rPr>
              <a:t>In the absence of credible enforcement, publishers have strong private incentives to exploit virality (+5.0). Credible strong moderation enforces negative returns (-2.0), shifting the system equilibrium to voluntary compliance (0.0,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05 · MATHEMATICAL PROOF</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Best Responses &amp; Nash Equilibrium Proof: IESDS</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5230368" cy="35661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08760"/>
            <a:ext cx="52303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4773168" cy="3246120"/>
          </a:xfrm>
          <a:prstGeom prst="rect">
            <a:avLst/>
          </a:prstGeom>
          <a:noFill/>
        </p:spPr>
        <p:txBody>
          <a:bodyPr wrap="square" lIns="0" tIns="0" rIns="0" bIns="0">
            <a:spAutoFit/>
          </a:bodyPr>
          <a:lstStyle/>
          <a:p>
            <a:r>
              <a:rPr sz="1200" b="1">
                <a:solidFill>
                  <a:srgbClr val="00E5FF"/>
                </a:solidFill>
                <a:latin typeface="Arial"/>
              </a:rPr>
              <a:t>STEP 1: PLATFORM STRICT DOMINANCE PROOF</a:t>
            </a:r>
          </a:p>
          <a:p>
            <a:pPr>
              <a:spcBef>
                <a:spcPts val="800"/>
              </a:spcBef>
            </a:pPr>
            <a:r>
              <a:rPr sz="1000">
                <a:solidFill>
                  <a:srgbClr val="A7B1C2"/>
                </a:solidFill>
                <a:latin typeface="Arial"/>
              </a:rPr>
              <a:t>Evaluate Platform's utility u_2 across all possible Sharer actions:</a:t>
            </a:r>
          </a:p>
          <a:p>
            <a:pPr>
              <a:spcBef>
                <a:spcPts val="600"/>
              </a:spcBef>
            </a:pPr>
            <a:r>
              <a:rPr sz="1050" b="1">
                <a:solidFill>
                  <a:srgbClr val="00C9A7"/>
                </a:solidFill>
                <a:latin typeface="Courier New"/>
              </a:rPr>
              <a:t>• If Sharer plays Spread (S):
  u_2(S, M) = 3.0  &gt;  u_2(S, W) = -4.0   [Δ = +7.0]</a:t>
            </a:r>
          </a:p>
          <a:p>
            <a:pPr>
              <a:spcBef>
                <a:spcPts val="400"/>
              </a:spcBef>
            </a:pPr>
            <a:r>
              <a:rPr sz="1050" b="1">
                <a:solidFill>
                  <a:srgbClr val="00C9A7"/>
                </a:solidFill>
                <a:latin typeface="Courier New"/>
              </a:rPr>
              <a:t>• If Sharer plays Do Not Spread (N):
  u_2(N, M) = 2.0  &gt;  u_2(N, W) = 0.0    [Δ = +2.0]</a:t>
            </a:r>
          </a:p>
          <a:p>
            <a:pPr>
              <a:spcBef>
                <a:spcPts val="800"/>
              </a:spcBef>
            </a:pPr>
            <a:r>
              <a:rPr sz="1000" b="1">
                <a:solidFill>
                  <a:srgbClr val="F1F5F9"/>
                </a:solidFill>
                <a:latin typeface="Arial"/>
              </a:rPr>
              <a:t>Strict Dominance Conclusion:
</a:t>
            </a:r>
            <a:r>
              <a:rPr sz="950">
                <a:solidFill>
                  <a:srgbClr val="A7B1C2"/>
                </a:solidFill>
                <a:latin typeface="Arial"/>
              </a:rPr>
              <a:t>Strategy M strictly dominates W (M ≻ W). Weak Moderation is strictly dominated and eliminated via Iterated Elimination of Strictly Dominated Strategies (IESDS).</a:t>
            </a:r>
          </a:p>
        </p:txBody>
      </p:sp>
      <p:sp>
        <p:nvSpPr>
          <p:cNvPr id="10" name="Rectangle 9"/>
          <p:cNvSpPr/>
          <p:nvPr/>
        </p:nvSpPr>
        <p:spPr>
          <a:xfrm>
            <a:off x="6227064" y="1508760"/>
            <a:ext cx="5230368" cy="35661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1508760"/>
            <a:ext cx="5230368"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691640"/>
            <a:ext cx="4773168" cy="3246120"/>
          </a:xfrm>
          <a:prstGeom prst="rect">
            <a:avLst/>
          </a:prstGeom>
          <a:noFill/>
        </p:spPr>
        <p:txBody>
          <a:bodyPr wrap="square" lIns="0" tIns="0" rIns="0" bIns="0">
            <a:spAutoFit/>
          </a:bodyPr>
          <a:lstStyle/>
          <a:p>
            <a:r>
              <a:rPr sz="1200" b="1">
                <a:solidFill>
                  <a:srgbClr val="6475FF"/>
                </a:solidFill>
                <a:latin typeface="Arial"/>
              </a:rPr>
              <a:t>STEP 2: SHARER'S BEST RESPONSE IN REDUCED GAME</a:t>
            </a:r>
          </a:p>
          <a:p>
            <a:pPr>
              <a:spcBef>
                <a:spcPts val="800"/>
              </a:spcBef>
            </a:pPr>
            <a:r>
              <a:rPr sz="1000">
                <a:solidFill>
                  <a:srgbClr val="A7B1C2"/>
                </a:solidFill>
                <a:latin typeface="Arial"/>
              </a:rPr>
              <a:t>Under common knowledge of rationality, Sharer eliminates column W:</a:t>
            </a:r>
          </a:p>
          <a:p>
            <a:pPr>
              <a:spcBef>
                <a:spcPts val="600"/>
              </a:spcBef>
            </a:pPr>
            <a:r>
              <a:rPr sz="1050" b="1">
                <a:solidFill>
                  <a:srgbClr val="00E5FF"/>
                </a:solidFill>
                <a:latin typeface="Courier New"/>
              </a:rPr>
              <a:t>• In reduced game (Column M), Sharer compares:
  u_1(S, M) = -2.0  (Throttling penalties)
  u_1(N, M) =  0.0  (Standard compliance)</a:t>
            </a:r>
          </a:p>
          <a:p>
            <a:pPr>
              <a:spcBef>
                <a:spcPts val="400"/>
              </a:spcBef>
            </a:pPr>
            <a:r>
              <a:rPr sz="1050" b="1">
                <a:solidFill>
                  <a:srgbClr val="00C9A7"/>
                </a:solidFill>
                <a:latin typeface="Courier New"/>
              </a:rPr>
              <a:t>• Best Response Condition:
  Since 0.0 &gt; -2.0  ⇒  BR_1(M) = {N}</a:t>
            </a:r>
          </a:p>
          <a:p>
            <a:pPr>
              <a:spcBef>
                <a:spcPts val="800"/>
              </a:spcBef>
            </a:pPr>
            <a:r>
              <a:rPr sz="1000" b="1">
                <a:solidFill>
                  <a:srgbClr val="F1F5F9"/>
                </a:solidFill>
                <a:latin typeface="Arial"/>
              </a:rPr>
              <a:t>Best-Response Conclusion:
</a:t>
            </a:r>
            <a:r>
              <a:rPr sz="950">
                <a:solidFill>
                  <a:srgbClr val="A7B1C2"/>
                </a:solidFill>
                <a:latin typeface="Arial"/>
              </a:rPr>
              <a:t>Knowing that the platform will play M, the Sharer's unique optimal choice is N. Spreading is actively deterred.</a:t>
            </a:r>
          </a:p>
        </p:txBody>
      </p:sp>
      <p:sp>
        <p:nvSpPr>
          <p:cNvPr id="13" name="Rectangle 12"/>
          <p:cNvSpPr/>
          <p:nvPr/>
        </p:nvSpPr>
        <p:spPr>
          <a:xfrm>
            <a:off x="731520" y="5212080"/>
            <a:ext cx="10728655" cy="1234440"/>
          </a:xfrm>
          <a:prstGeom prst="rect">
            <a:avLst/>
          </a:prstGeom>
          <a:solidFill>
            <a:srgbClr val="062C26"/>
          </a:solidFill>
          <a:ln w="12700">
            <a:solidFill>
              <a:srgbClr val="00C9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212080"/>
            <a:ext cx="10728655"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285232"/>
            <a:ext cx="10271455" cy="1097280"/>
          </a:xfrm>
          <a:prstGeom prst="rect">
            <a:avLst/>
          </a:prstGeom>
          <a:noFill/>
        </p:spPr>
        <p:txBody>
          <a:bodyPr wrap="square" lIns="0" tIns="0" rIns="0" bIns="0">
            <a:spAutoFit/>
          </a:bodyPr>
          <a:lstStyle/>
          <a:p>
            <a:r>
              <a:rPr sz="1200" b="1">
                <a:solidFill>
                  <a:srgbClr val="00E5FF"/>
                </a:solidFill>
                <a:latin typeface="Arial"/>
              </a:rPr>
              <a:t>★ UNIQUE PURE-STRATEGY NASH EQUILIBRIUM: (N, M) = (Do Not Spread, Strong Moderation)</a:t>
            </a:r>
          </a:p>
          <a:p>
            <a:pPr>
              <a:spcBef>
                <a:spcPts val="400"/>
              </a:spcBef>
            </a:pPr>
            <a:r>
              <a:rPr sz="1100" b="1">
                <a:solidFill>
                  <a:srgbClr val="00C9A7"/>
                </a:solidFill>
                <a:latin typeface="Courier New"/>
              </a:rPr>
              <a:t>Equilibrium Payoffs: u*(N, M) = (0.0, 2.0)  |  Strictly Self-Enforcing</a:t>
            </a:r>
          </a:p>
          <a:p>
            <a:pPr>
              <a:spcBef>
                <a:spcPts val="300"/>
              </a:spcBef>
            </a:pPr>
            <a:r>
              <a:rPr sz="950">
                <a:solidFill>
                  <a:srgbClr val="F1F5F9"/>
                </a:solidFill>
                <a:latin typeface="Arial"/>
              </a:rPr>
              <a:t>Deterrence Theorem: Because the platform's threat of aggressive enforcement is strictly credible and self-interested (u_2(S,M) &gt; u_2(S,W)), rational creators voluntarily withhold false narratives, establishing ex-ante deterrence without perpetual censorship.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06 · SYSTEM DESIGN</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System Architecture: Modern Web-Native Pipeline</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2423160" cy="32918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08760"/>
            <a:ext cx="2423160"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54680" y="2926080"/>
            <a:ext cx="338328" cy="457200"/>
          </a:xfrm>
          <a:prstGeom prst="rect">
            <a:avLst/>
          </a:prstGeom>
          <a:noFill/>
        </p:spPr>
        <p:txBody>
          <a:bodyPr wrap="none" lIns="0" tIns="0" rIns="0" bIns="0">
            <a:spAutoFit/>
          </a:bodyPr>
          <a:lstStyle/>
          <a:p>
            <a:pPr algn="ctr"/>
            <a:r>
              <a:rPr sz="2000" b="1">
                <a:solidFill>
                  <a:srgbClr val="00E5FF"/>
                </a:solidFill>
                <a:latin typeface="Arial"/>
              </a:rPr>
              <a:t>→</a:t>
            </a:r>
          </a:p>
        </p:txBody>
      </p:sp>
      <p:sp>
        <p:nvSpPr>
          <p:cNvPr id="10" name="TextBox 9"/>
          <p:cNvSpPr txBox="1"/>
          <p:nvPr/>
        </p:nvSpPr>
        <p:spPr>
          <a:xfrm>
            <a:off x="896112" y="1691640"/>
            <a:ext cx="2093976" cy="2926080"/>
          </a:xfrm>
          <a:prstGeom prst="rect">
            <a:avLst/>
          </a:prstGeom>
          <a:noFill/>
        </p:spPr>
        <p:txBody>
          <a:bodyPr wrap="square" lIns="0" tIns="0" rIns="0" bIns="0">
            <a:spAutoFit/>
          </a:bodyPr>
          <a:lstStyle/>
          <a:p>
            <a:r>
              <a:rPr sz="1100" b="1">
                <a:solidFill>
                  <a:srgbClr val="00E5FF"/>
                </a:solidFill>
                <a:latin typeface="Arial"/>
              </a:rPr>
              <a:t>01 · PRESENTATION</a:t>
            </a:r>
          </a:p>
          <a:p>
            <a:pPr>
              <a:spcBef>
                <a:spcPts val="800"/>
              </a:spcBef>
            </a:pPr>
            <a:r>
              <a:rPr sz="950" b="1">
                <a:solidFill>
                  <a:srgbClr val="F1F5F9"/>
                </a:solidFill>
                <a:latin typeface="Arial"/>
              </a:rPr>
              <a:t>UI Framework
</a:t>
            </a:r>
            <a:r>
              <a:rPr sz="850">
                <a:solidFill>
                  <a:srgbClr val="A7B1C2"/>
                </a:solidFill>
                <a:latin typeface="Arial"/>
              </a:rPr>
              <a:t>Semantic HTML5 Single Page</a:t>
            </a:r>
          </a:p>
          <a:p>
            <a:pPr>
              <a:spcBef>
                <a:spcPts val="800"/>
              </a:spcBef>
            </a:pPr>
            <a:r>
              <a:rPr sz="950" b="1">
                <a:solidFill>
                  <a:srgbClr val="F1F5F9"/>
                </a:solidFill>
                <a:latin typeface="Arial"/>
              </a:rPr>
              <a:t>Design Engine
</a:t>
            </a:r>
            <a:r>
              <a:rPr sz="850">
                <a:solidFill>
                  <a:srgbClr val="A7B1C2"/>
                </a:solidFill>
                <a:latin typeface="Arial"/>
              </a:rPr>
              <a:t>Modern CSS3 Variables &amp; Flexbox</a:t>
            </a:r>
          </a:p>
          <a:p>
            <a:pPr>
              <a:spcBef>
                <a:spcPts val="800"/>
              </a:spcBef>
            </a:pPr>
            <a:r>
              <a:rPr sz="950" b="1">
                <a:solidFill>
                  <a:srgbClr val="F1F5F9"/>
                </a:solidFill>
                <a:latin typeface="Arial"/>
              </a:rPr>
              <a:t>Dual Themes
</a:t>
            </a:r>
            <a:r>
              <a:rPr sz="850">
                <a:solidFill>
                  <a:srgbClr val="A7B1C2"/>
                </a:solidFill>
                <a:latin typeface="Arial"/>
              </a:rPr>
              <a:t>Cyberpunk Dark &amp; Editorial Light</a:t>
            </a:r>
          </a:p>
          <a:p>
            <a:pPr>
              <a:spcBef>
                <a:spcPts val="800"/>
              </a:spcBef>
            </a:pPr>
            <a:r>
              <a:rPr sz="950" b="1">
                <a:solidFill>
                  <a:srgbClr val="F1F5F9"/>
                </a:solidFill>
                <a:latin typeface="Arial"/>
              </a:rPr>
              <a:t>Visualizations
</a:t>
            </a:r>
            <a:r>
              <a:rPr sz="850">
                <a:solidFill>
                  <a:srgbClr val="A7B1C2"/>
                </a:solidFill>
                <a:latin typeface="Arial"/>
              </a:rPr>
              <a:t>Dynamic HTML5 Canvas &amp; Inline SVG</a:t>
            </a:r>
          </a:p>
        </p:txBody>
      </p:sp>
      <p:sp>
        <p:nvSpPr>
          <p:cNvPr id="11" name="Rectangle 10"/>
          <p:cNvSpPr/>
          <p:nvPr/>
        </p:nvSpPr>
        <p:spPr>
          <a:xfrm>
            <a:off x="3493008" y="1508760"/>
            <a:ext cx="2423160" cy="32918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93008" y="1508760"/>
            <a:ext cx="2423160"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16168" y="2926080"/>
            <a:ext cx="338328" cy="457200"/>
          </a:xfrm>
          <a:prstGeom prst="rect">
            <a:avLst/>
          </a:prstGeom>
          <a:noFill/>
        </p:spPr>
        <p:txBody>
          <a:bodyPr wrap="none" lIns="0" tIns="0" rIns="0" bIns="0">
            <a:spAutoFit/>
          </a:bodyPr>
          <a:lstStyle/>
          <a:p>
            <a:pPr algn="ctr"/>
            <a:r>
              <a:rPr sz="2000" b="1">
                <a:solidFill>
                  <a:srgbClr val="00E5FF"/>
                </a:solidFill>
                <a:latin typeface="Arial"/>
              </a:rPr>
              <a:t>→</a:t>
            </a:r>
          </a:p>
        </p:txBody>
      </p:sp>
      <p:sp>
        <p:nvSpPr>
          <p:cNvPr id="14" name="TextBox 13"/>
          <p:cNvSpPr txBox="1"/>
          <p:nvPr/>
        </p:nvSpPr>
        <p:spPr>
          <a:xfrm>
            <a:off x="3657600" y="1691640"/>
            <a:ext cx="2093976" cy="2926080"/>
          </a:xfrm>
          <a:prstGeom prst="rect">
            <a:avLst/>
          </a:prstGeom>
          <a:noFill/>
        </p:spPr>
        <p:txBody>
          <a:bodyPr wrap="square" lIns="0" tIns="0" rIns="0" bIns="0">
            <a:spAutoFit/>
          </a:bodyPr>
          <a:lstStyle/>
          <a:p>
            <a:r>
              <a:rPr sz="1100" b="1">
                <a:solidFill>
                  <a:srgbClr val="00C9A7"/>
                </a:solidFill>
                <a:latin typeface="Arial"/>
              </a:rPr>
              <a:t>02 · CONTROLLER</a:t>
            </a:r>
          </a:p>
          <a:p>
            <a:pPr>
              <a:spcBef>
                <a:spcPts val="800"/>
              </a:spcBef>
            </a:pPr>
            <a:r>
              <a:rPr sz="950" b="1">
                <a:solidFill>
                  <a:srgbClr val="F1F5F9"/>
                </a:solidFill>
                <a:latin typeface="Arial"/>
              </a:rPr>
              <a:t>Core Language
</a:t>
            </a:r>
            <a:r>
              <a:rPr sz="850">
                <a:solidFill>
                  <a:srgbClr val="A7B1C2"/>
                </a:solidFill>
                <a:latin typeface="Arial"/>
              </a:rPr>
              <a:t>Vanilla JavaScript (ES6+ Modules)</a:t>
            </a:r>
          </a:p>
          <a:p>
            <a:pPr>
              <a:spcBef>
                <a:spcPts val="800"/>
              </a:spcBef>
            </a:pPr>
            <a:r>
              <a:rPr sz="950" b="1">
                <a:solidFill>
                  <a:srgbClr val="F1F5F9"/>
                </a:solidFill>
                <a:latin typeface="Arial"/>
              </a:rPr>
              <a:t>State Store
</a:t>
            </a:r>
            <a:r>
              <a:rPr sz="850">
                <a:solidFill>
                  <a:srgbClr val="A7B1C2"/>
                </a:solidFill>
                <a:latin typeface="Arial"/>
              </a:rPr>
              <a:t>Reactive Single-Source-of-Truth</a:t>
            </a:r>
          </a:p>
          <a:p>
            <a:pPr>
              <a:spcBef>
                <a:spcPts val="800"/>
              </a:spcBef>
            </a:pPr>
            <a:r>
              <a:rPr sz="950" b="1">
                <a:solidFill>
                  <a:srgbClr val="F1F5F9"/>
                </a:solidFill>
                <a:latin typeface="Arial"/>
              </a:rPr>
              <a:t>Event Coordinator
</a:t>
            </a:r>
            <a:r>
              <a:rPr sz="850">
                <a:solidFill>
                  <a:srgbClr val="A7B1C2"/>
                </a:solidFill>
                <a:latin typeface="Arial"/>
              </a:rPr>
              <a:t>Decoupled Custom Event Dispatcher</a:t>
            </a:r>
          </a:p>
          <a:p>
            <a:pPr>
              <a:spcBef>
                <a:spcPts val="800"/>
              </a:spcBef>
            </a:pPr>
            <a:r>
              <a:rPr sz="950" b="1">
                <a:solidFill>
                  <a:srgbClr val="F1F5F9"/>
                </a:solidFill>
                <a:latin typeface="Arial"/>
              </a:rPr>
              <a:t>DOM Sync
</a:t>
            </a:r>
            <a:r>
              <a:rPr sz="850">
                <a:solidFill>
                  <a:srgbClr val="A7B1C2"/>
                </a:solidFill>
                <a:latin typeface="Arial"/>
              </a:rPr>
              <a:t>Real-Time &lt; 2ms Reactive Mutator</a:t>
            </a:r>
          </a:p>
        </p:txBody>
      </p:sp>
      <p:sp>
        <p:nvSpPr>
          <p:cNvPr id="15" name="Rectangle 14"/>
          <p:cNvSpPr/>
          <p:nvPr/>
        </p:nvSpPr>
        <p:spPr>
          <a:xfrm>
            <a:off x="6254496" y="1508760"/>
            <a:ext cx="2423160" cy="32918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54496" y="1508760"/>
            <a:ext cx="2423160"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77656" y="2926080"/>
            <a:ext cx="338328" cy="457200"/>
          </a:xfrm>
          <a:prstGeom prst="rect">
            <a:avLst/>
          </a:prstGeom>
          <a:noFill/>
        </p:spPr>
        <p:txBody>
          <a:bodyPr wrap="none" lIns="0" tIns="0" rIns="0" bIns="0">
            <a:spAutoFit/>
          </a:bodyPr>
          <a:lstStyle/>
          <a:p>
            <a:pPr algn="ctr"/>
            <a:r>
              <a:rPr sz="2000" b="1">
                <a:solidFill>
                  <a:srgbClr val="00E5FF"/>
                </a:solidFill>
                <a:latin typeface="Arial"/>
              </a:rPr>
              <a:t>→</a:t>
            </a:r>
          </a:p>
        </p:txBody>
      </p:sp>
      <p:sp>
        <p:nvSpPr>
          <p:cNvPr id="18" name="TextBox 17"/>
          <p:cNvSpPr txBox="1"/>
          <p:nvPr/>
        </p:nvSpPr>
        <p:spPr>
          <a:xfrm>
            <a:off x="6419088" y="1691640"/>
            <a:ext cx="2093976" cy="2926080"/>
          </a:xfrm>
          <a:prstGeom prst="rect">
            <a:avLst/>
          </a:prstGeom>
          <a:noFill/>
        </p:spPr>
        <p:txBody>
          <a:bodyPr wrap="square" lIns="0" tIns="0" rIns="0" bIns="0">
            <a:spAutoFit/>
          </a:bodyPr>
          <a:lstStyle/>
          <a:p>
            <a:r>
              <a:rPr sz="1100" b="1">
                <a:solidFill>
                  <a:srgbClr val="6475FF"/>
                </a:solidFill>
                <a:latin typeface="Arial"/>
              </a:rPr>
              <a:t>03 · COMPUTATION</a:t>
            </a:r>
          </a:p>
          <a:p>
            <a:pPr>
              <a:spcBef>
                <a:spcPts val="800"/>
              </a:spcBef>
            </a:pPr>
            <a:r>
              <a:rPr sz="950" b="1">
                <a:solidFill>
                  <a:srgbClr val="F1F5F9"/>
                </a:solidFill>
                <a:latin typeface="Arial"/>
              </a:rPr>
              <a:t>Equilibrium Solver
</a:t>
            </a:r>
            <a:r>
              <a:rPr sz="850">
                <a:solidFill>
                  <a:srgbClr val="A7B1C2"/>
                </a:solidFill>
                <a:latin typeface="Arial"/>
              </a:rPr>
              <a:t>Normal-Form Matrix Nash Engine</a:t>
            </a:r>
          </a:p>
          <a:p>
            <a:pPr>
              <a:spcBef>
                <a:spcPts val="800"/>
              </a:spcBef>
            </a:pPr>
            <a:r>
              <a:rPr sz="950" b="1">
                <a:solidFill>
                  <a:srgbClr val="F1F5F9"/>
                </a:solidFill>
                <a:latin typeface="Arial"/>
              </a:rPr>
              <a:t>Contagion Engine
</a:t>
            </a:r>
            <a:r>
              <a:rPr sz="850">
                <a:solidFill>
                  <a:srgbClr val="A7B1C2"/>
                </a:solidFill>
                <a:latin typeface="Arial"/>
              </a:rPr>
              <a:t>Discrete Logistic Recurrence Loop</a:t>
            </a:r>
          </a:p>
          <a:p>
            <a:pPr>
              <a:spcBef>
                <a:spcPts val="800"/>
              </a:spcBef>
            </a:pPr>
            <a:r>
              <a:rPr sz="950" b="1">
                <a:solidFill>
                  <a:srgbClr val="F1F5F9"/>
                </a:solidFill>
                <a:latin typeface="Arial"/>
              </a:rPr>
              <a:t>Complexity
</a:t>
            </a:r>
            <a:r>
              <a:rPr sz="850">
                <a:solidFill>
                  <a:srgbClr val="A7B1C2"/>
                </a:solidFill>
                <a:latin typeface="Arial"/>
              </a:rPr>
              <a:t>O(T) Constant Memory Footprint</a:t>
            </a:r>
          </a:p>
          <a:p>
            <a:pPr>
              <a:spcBef>
                <a:spcPts val="800"/>
              </a:spcBef>
            </a:pPr>
            <a:r>
              <a:rPr sz="950" b="1">
                <a:solidFill>
                  <a:srgbClr val="F1F5F9"/>
                </a:solidFill>
                <a:latin typeface="Arial"/>
              </a:rPr>
              <a:t>Zero Dependencies
</a:t>
            </a:r>
            <a:r>
              <a:rPr sz="850">
                <a:solidFill>
                  <a:srgbClr val="A7B1C2"/>
                </a:solidFill>
                <a:latin typeface="Arial"/>
              </a:rPr>
              <a:t>Pure Mathematical JS Implementation</a:t>
            </a:r>
          </a:p>
        </p:txBody>
      </p:sp>
      <p:sp>
        <p:nvSpPr>
          <p:cNvPr id="19" name="Rectangle 18"/>
          <p:cNvSpPr/>
          <p:nvPr/>
        </p:nvSpPr>
        <p:spPr>
          <a:xfrm>
            <a:off x="9015984" y="1508760"/>
            <a:ext cx="2423160" cy="32918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1508760"/>
            <a:ext cx="2423160" cy="36576"/>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80576" y="1691640"/>
            <a:ext cx="2093976" cy="2926080"/>
          </a:xfrm>
          <a:prstGeom prst="rect">
            <a:avLst/>
          </a:prstGeom>
          <a:noFill/>
        </p:spPr>
        <p:txBody>
          <a:bodyPr wrap="square" lIns="0" tIns="0" rIns="0" bIns="0">
            <a:spAutoFit/>
          </a:bodyPr>
          <a:lstStyle/>
          <a:p>
            <a:r>
              <a:rPr sz="1100" b="1">
                <a:solidFill>
                  <a:srgbClr val="F1F5F9"/>
                </a:solidFill>
                <a:latin typeface="Arial"/>
              </a:rPr>
              <a:t>04 · DEPLOYMENT</a:t>
            </a:r>
          </a:p>
          <a:p>
            <a:pPr>
              <a:spcBef>
                <a:spcPts val="800"/>
              </a:spcBef>
            </a:pPr>
            <a:r>
              <a:rPr sz="950" b="1">
                <a:solidFill>
                  <a:srgbClr val="F1F5F9"/>
                </a:solidFill>
                <a:latin typeface="Arial"/>
              </a:rPr>
              <a:t>Bundler
</a:t>
            </a:r>
            <a:r>
              <a:rPr sz="850">
                <a:solidFill>
                  <a:srgbClr val="A7B1C2"/>
                </a:solidFill>
                <a:latin typeface="Arial"/>
              </a:rPr>
              <a:t>Vite 6 Production Optimizer</a:t>
            </a:r>
          </a:p>
          <a:p>
            <a:pPr>
              <a:spcBef>
                <a:spcPts val="800"/>
              </a:spcBef>
            </a:pPr>
            <a:r>
              <a:rPr sz="950" b="1">
                <a:solidFill>
                  <a:srgbClr val="F1F5F9"/>
                </a:solidFill>
                <a:latin typeface="Arial"/>
              </a:rPr>
              <a:t>Hosting
</a:t>
            </a:r>
            <a:r>
              <a:rPr sz="850">
                <a:solidFill>
                  <a:srgbClr val="A7B1C2"/>
                </a:solidFill>
                <a:latin typeface="Arial"/>
              </a:rPr>
              <a:t>Vercel Global Edge CDN</a:t>
            </a:r>
          </a:p>
          <a:p>
            <a:pPr>
              <a:spcBef>
                <a:spcPts val="800"/>
              </a:spcBef>
            </a:pPr>
            <a:r>
              <a:rPr sz="950" b="1">
                <a:solidFill>
                  <a:srgbClr val="F1F5F9"/>
                </a:solidFill>
                <a:latin typeface="Arial"/>
              </a:rPr>
              <a:t>Serverless
</a:t>
            </a:r>
            <a:r>
              <a:rPr sz="850">
                <a:solidFill>
                  <a:srgbClr val="A7B1C2"/>
                </a:solidFill>
                <a:latin typeface="Arial"/>
              </a:rPr>
              <a:t>Zero Cloud Database / API Latency</a:t>
            </a:r>
          </a:p>
          <a:p>
            <a:pPr>
              <a:spcBef>
                <a:spcPts val="800"/>
              </a:spcBef>
            </a:pPr>
            <a:r>
              <a:rPr sz="950" b="1">
                <a:solidFill>
                  <a:srgbClr val="F1F5F9"/>
                </a:solidFill>
                <a:latin typeface="Arial"/>
              </a:rPr>
              <a:t>Availability
</a:t>
            </a:r>
            <a:r>
              <a:rPr sz="850">
                <a:solidFill>
                  <a:srgbClr val="A7B1C2"/>
                </a:solidFill>
                <a:latin typeface="Arial"/>
              </a:rPr>
              <a:t>100% Client-Side In-Browser Execution</a:t>
            </a:r>
          </a:p>
        </p:txBody>
      </p:sp>
      <p:sp>
        <p:nvSpPr>
          <p:cNvPr id="22" name="Rectangle 21"/>
          <p:cNvSpPr/>
          <p:nvPr/>
        </p:nvSpPr>
        <p:spPr>
          <a:xfrm>
            <a:off x="731520" y="4983480"/>
            <a:ext cx="10728655" cy="137160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 y="4983480"/>
            <a:ext cx="10728655"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5074920"/>
            <a:ext cx="10271455" cy="1188720"/>
          </a:xfrm>
          <a:prstGeom prst="rect">
            <a:avLst/>
          </a:prstGeom>
          <a:noFill/>
        </p:spPr>
        <p:txBody>
          <a:bodyPr wrap="square" lIns="0" tIns="0" rIns="0" bIns="0">
            <a:spAutoFit/>
          </a:bodyPr>
          <a:lstStyle/>
          <a:p>
            <a:r>
              <a:rPr sz="1100" b="1">
                <a:solidFill>
                  <a:srgbClr val="00E5FF"/>
                </a:solidFill>
                <a:latin typeface="Arial"/>
              </a:rPr>
              <a:t>REACTIVE REAL-TIME EXECUTION LIFECYCLE</a:t>
            </a:r>
          </a:p>
          <a:p>
            <a:pPr>
              <a:spcBef>
                <a:spcPts val="400"/>
              </a:spcBef>
            </a:pPr>
            <a:r>
              <a:rPr b="1">
                <a:solidFill>
                  <a:srgbClr val="F1F5F9"/>
                </a:solidFill>
              </a:rPr>
              <a:t>1. User Interaction: </a:t>
            </a:r>
            <a:r>
              <a:rPr>
                <a:solidFill>
                  <a:srgbClr val="A7B1C2"/>
                </a:solidFill>
              </a:rPr>
              <a:t>Sliders for N, I₀, β, m or matrix input edits trigger standard DOM input events.
</a:t>
            </a:r>
            <a:r>
              <a:rPr b="1">
                <a:solidFill>
                  <a:srgbClr val="F1F5F9"/>
                </a:solidFill>
              </a:rPr>
              <a:t>2. State Dispatch: </a:t>
            </a:r>
            <a:r>
              <a:rPr>
                <a:solidFill>
                  <a:srgbClr val="A7B1C2"/>
                </a:solidFill>
              </a:rPr>
              <a:t>src/main.js intercepts inputs, updates single-state store, and broadcasts change notifications.
</a:t>
            </a:r>
            <a:r>
              <a:rPr b="1">
                <a:solidFill>
                  <a:srgbClr val="F1F5F9"/>
                </a:solidFill>
              </a:rPr>
              <a:t>3. Pure Computation: </a:t>
            </a:r>
            <a:r>
              <a:rPr>
                <a:solidFill>
                  <a:srgbClr val="A7B1C2"/>
                </a:solidFill>
              </a:rPr>
              <a:t>src/model.js evaluates the discrete logistic loop &amp; Nash solver in &lt; 2ms without network overhead.
</a:t>
            </a:r>
            <a:r>
              <a:rPr b="1">
                <a:solidFill>
                  <a:srgbClr val="F1F5F9"/>
                </a:solidFill>
              </a:rPr>
              <a:t>4. DOM &amp; Canvas Paint: </a:t>
            </a:r>
            <a:r>
              <a:rPr>
                <a:solidFill>
                  <a:srgbClr val="A7B1C2"/>
                </a:solidFill>
              </a:rPr>
              <a:t>Real-time Canvas redraws diffusion curves and shaded prevention area; KPI cards update instantly.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07 · CONTAGION MECHANICS</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Discrete Logistic Propagation Model: Mathematical Formulation</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10728655" cy="118872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08760"/>
            <a:ext cx="10728655"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00200"/>
            <a:ext cx="10271455" cy="1005840"/>
          </a:xfrm>
          <a:prstGeom prst="rect">
            <a:avLst/>
          </a:prstGeom>
          <a:noFill/>
        </p:spPr>
        <p:txBody>
          <a:bodyPr wrap="square" lIns="0" tIns="0" rIns="0" bIns="0">
            <a:spAutoFit/>
          </a:bodyPr>
          <a:lstStyle/>
          <a:p>
            <a:r>
              <a:rPr sz="1800" b="1">
                <a:solidFill>
                  <a:srgbClr val="00E5FF"/>
                </a:solidFill>
                <a:latin typeface="Courier New"/>
              </a:rPr>
              <a:t>I_{t+1} = min( N , max( 0 , I_t + β · (1 - m) · I_t · ( 1 - I_t / N ) ) )</a:t>
            </a:r>
          </a:p>
          <a:p>
            <a:pPr>
              <a:spcBef>
                <a:spcPts val="400"/>
              </a:spcBef>
            </a:pPr>
            <a:r>
              <a:rPr sz="1050">
                <a:solidFill>
                  <a:srgbClr val="A7B1C2"/>
                </a:solidFill>
                <a:latin typeface="Arial"/>
              </a:rPr>
              <a:t>Discrete Recurrence for Misinformation Contagion with Defensive Platform Moderation Damping (1 - m)</a:t>
            </a:r>
          </a:p>
        </p:txBody>
      </p:sp>
      <p:sp>
        <p:nvSpPr>
          <p:cNvPr id="10" name="Rectangle 9"/>
          <p:cNvSpPr/>
          <p:nvPr/>
        </p:nvSpPr>
        <p:spPr>
          <a:xfrm>
            <a:off x="731520" y="2880360"/>
            <a:ext cx="3401568" cy="16916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2880360"/>
            <a:ext cx="34015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3017520"/>
            <a:ext cx="3072384" cy="1417320"/>
          </a:xfrm>
          <a:prstGeom prst="rect">
            <a:avLst/>
          </a:prstGeom>
          <a:noFill/>
        </p:spPr>
        <p:txBody>
          <a:bodyPr wrap="square" lIns="0" tIns="0" rIns="0" bIns="0">
            <a:spAutoFit/>
          </a:bodyPr>
          <a:lstStyle/>
          <a:p>
            <a:r>
              <a:rPr sz="1000" b="1">
                <a:solidFill>
                  <a:srgbClr val="00E5FF"/>
                </a:solidFill>
                <a:latin typeface="Arial"/>
              </a:rPr>
              <a:t>N · TOTAL POPULATION</a:t>
            </a:r>
          </a:p>
          <a:p>
            <a:pPr>
              <a:spcBef>
                <a:spcPts val="300"/>
              </a:spcBef>
            </a:pPr>
            <a:r>
              <a:rPr sz="1300" b="1">
                <a:solidFill>
                  <a:srgbClr val="F1F5F9"/>
                </a:solidFill>
                <a:latin typeface="Courier New"/>
              </a:rPr>
              <a:t>10,000 Users</a:t>
            </a:r>
          </a:p>
          <a:p>
            <a:pPr>
              <a:spcBef>
                <a:spcPts val="300"/>
              </a:spcBef>
            </a:pPr>
            <a:r>
              <a:rPr sz="900">
                <a:solidFill>
                  <a:srgbClr val="A7B1C2"/>
                </a:solidFill>
                <a:latin typeface="Arial"/>
              </a:rPr>
              <a:t>Carrying capacity ceiling representing the finite susceptible digital community.</a:t>
            </a:r>
          </a:p>
        </p:txBody>
      </p:sp>
      <p:sp>
        <p:nvSpPr>
          <p:cNvPr id="13" name="Rectangle 12"/>
          <p:cNvSpPr/>
          <p:nvPr/>
        </p:nvSpPr>
        <p:spPr>
          <a:xfrm>
            <a:off x="4398264" y="2880360"/>
            <a:ext cx="3401568" cy="16916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98264" y="2880360"/>
            <a:ext cx="3401568"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62856" y="3017520"/>
            <a:ext cx="3072384" cy="1417320"/>
          </a:xfrm>
          <a:prstGeom prst="rect">
            <a:avLst/>
          </a:prstGeom>
          <a:noFill/>
        </p:spPr>
        <p:txBody>
          <a:bodyPr wrap="square" lIns="0" tIns="0" rIns="0" bIns="0">
            <a:spAutoFit/>
          </a:bodyPr>
          <a:lstStyle/>
          <a:p>
            <a:r>
              <a:rPr sz="1000" b="1">
                <a:solidFill>
                  <a:srgbClr val="00C9A7"/>
                </a:solidFill>
                <a:latin typeface="Arial"/>
              </a:rPr>
              <a:t>I_t · CURRENT EXPOSURE</a:t>
            </a:r>
          </a:p>
          <a:p>
            <a:pPr>
              <a:spcBef>
                <a:spcPts val="300"/>
              </a:spcBef>
            </a:pPr>
            <a:r>
              <a:rPr sz="1300" b="1">
                <a:solidFill>
                  <a:srgbClr val="F1F5F9"/>
                </a:solidFill>
                <a:latin typeface="Courier New"/>
              </a:rPr>
              <a:t>I_t ∈ [0, N]</a:t>
            </a:r>
          </a:p>
          <a:p>
            <a:pPr>
              <a:spcBef>
                <a:spcPts val="300"/>
              </a:spcBef>
            </a:pPr>
            <a:r>
              <a:rPr sz="900">
                <a:solidFill>
                  <a:srgbClr val="A7B1C2"/>
                </a:solidFill>
                <a:latin typeface="Arial"/>
              </a:rPr>
              <a:t>Cumulative individuals exposed to or infected by the false narrative at observation step t.</a:t>
            </a:r>
          </a:p>
        </p:txBody>
      </p:sp>
      <p:sp>
        <p:nvSpPr>
          <p:cNvPr id="16" name="Rectangle 15"/>
          <p:cNvSpPr/>
          <p:nvPr/>
        </p:nvSpPr>
        <p:spPr>
          <a:xfrm>
            <a:off x="8055864" y="2880360"/>
            <a:ext cx="3401568" cy="16916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55864" y="2880360"/>
            <a:ext cx="3401568"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0456" y="3017520"/>
            <a:ext cx="3072384" cy="1417320"/>
          </a:xfrm>
          <a:prstGeom prst="rect">
            <a:avLst/>
          </a:prstGeom>
          <a:noFill/>
        </p:spPr>
        <p:txBody>
          <a:bodyPr wrap="square" lIns="0" tIns="0" rIns="0" bIns="0">
            <a:spAutoFit/>
          </a:bodyPr>
          <a:lstStyle/>
          <a:p>
            <a:r>
              <a:rPr sz="1000" b="1">
                <a:solidFill>
                  <a:srgbClr val="6475FF"/>
                </a:solidFill>
                <a:latin typeface="Arial"/>
              </a:rPr>
              <a:t>I_0 · INITIAL SEEDS</a:t>
            </a:r>
          </a:p>
          <a:p>
            <a:pPr>
              <a:spcBef>
                <a:spcPts val="300"/>
              </a:spcBef>
            </a:pPr>
            <a:r>
              <a:rPr sz="1300" b="1">
                <a:solidFill>
                  <a:srgbClr val="F1F5F9"/>
                </a:solidFill>
                <a:latin typeface="Courier New"/>
              </a:rPr>
              <a:t>100 Nodes (1.0%)</a:t>
            </a:r>
          </a:p>
          <a:p>
            <a:pPr>
              <a:spcBef>
                <a:spcPts val="300"/>
              </a:spcBef>
            </a:pPr>
            <a:r>
              <a:rPr sz="900">
                <a:solidFill>
                  <a:srgbClr val="A7B1C2"/>
                </a:solidFill>
                <a:latin typeface="Arial"/>
              </a:rPr>
              <a:t>Patient-zero seed cohort introducing the fabricated claim into the network.</a:t>
            </a:r>
          </a:p>
        </p:txBody>
      </p:sp>
      <p:sp>
        <p:nvSpPr>
          <p:cNvPr id="19" name="Rectangle 18"/>
          <p:cNvSpPr/>
          <p:nvPr/>
        </p:nvSpPr>
        <p:spPr>
          <a:xfrm>
            <a:off x="731520" y="4709160"/>
            <a:ext cx="3401568" cy="16916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4709160"/>
            <a:ext cx="34015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96112" y="4846320"/>
            <a:ext cx="3072384" cy="1417320"/>
          </a:xfrm>
          <a:prstGeom prst="rect">
            <a:avLst/>
          </a:prstGeom>
          <a:noFill/>
        </p:spPr>
        <p:txBody>
          <a:bodyPr wrap="square" lIns="0" tIns="0" rIns="0" bIns="0">
            <a:spAutoFit/>
          </a:bodyPr>
          <a:lstStyle/>
          <a:p>
            <a:r>
              <a:rPr sz="1000" b="1">
                <a:solidFill>
                  <a:srgbClr val="00E5FF"/>
                </a:solidFill>
                <a:latin typeface="Arial"/>
              </a:rPr>
              <a:t>β · SHARING PROPENSITY</a:t>
            </a:r>
          </a:p>
          <a:p>
            <a:pPr>
              <a:spcBef>
                <a:spcPts val="300"/>
              </a:spcBef>
            </a:pPr>
            <a:r>
              <a:rPr sz="1300" b="1">
                <a:solidFill>
                  <a:srgbClr val="F1F5F9"/>
                </a:solidFill>
                <a:latin typeface="Courier New"/>
              </a:rPr>
              <a:t>0.35 per contact</a:t>
            </a:r>
          </a:p>
          <a:p>
            <a:pPr>
              <a:spcBef>
                <a:spcPts val="300"/>
              </a:spcBef>
            </a:pPr>
            <a:r>
              <a:rPr sz="900">
                <a:solidFill>
                  <a:srgbClr val="A7B1C2"/>
                </a:solidFill>
                <a:latin typeface="Arial"/>
              </a:rPr>
              <a:t>Baseline peer-to-peer viral transmission probability in the absence of moderation friction.</a:t>
            </a:r>
          </a:p>
        </p:txBody>
      </p:sp>
      <p:sp>
        <p:nvSpPr>
          <p:cNvPr id="22" name="Rectangle 21"/>
          <p:cNvSpPr/>
          <p:nvPr/>
        </p:nvSpPr>
        <p:spPr>
          <a:xfrm>
            <a:off x="4398264" y="4709160"/>
            <a:ext cx="3401568" cy="16916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98264" y="4709160"/>
            <a:ext cx="3401568"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62856" y="4846320"/>
            <a:ext cx="3072384" cy="1417320"/>
          </a:xfrm>
          <a:prstGeom prst="rect">
            <a:avLst/>
          </a:prstGeom>
          <a:noFill/>
        </p:spPr>
        <p:txBody>
          <a:bodyPr wrap="square" lIns="0" tIns="0" rIns="0" bIns="0">
            <a:spAutoFit/>
          </a:bodyPr>
          <a:lstStyle/>
          <a:p>
            <a:r>
              <a:rPr sz="1000" b="1">
                <a:solidFill>
                  <a:srgbClr val="00C9A7"/>
                </a:solidFill>
                <a:latin typeface="Arial"/>
              </a:rPr>
              <a:t>m · MODERATION INTENSITY</a:t>
            </a:r>
          </a:p>
          <a:p>
            <a:pPr>
              <a:spcBef>
                <a:spcPts val="300"/>
              </a:spcBef>
            </a:pPr>
            <a:r>
              <a:rPr sz="1300" b="1">
                <a:solidFill>
                  <a:srgbClr val="F1F5F9"/>
                </a:solidFill>
                <a:latin typeface="Courier New"/>
              </a:rPr>
              <a:t>0.50 (m ∈ [0, 1])</a:t>
            </a:r>
          </a:p>
          <a:p>
            <a:pPr>
              <a:spcBef>
                <a:spcPts val="300"/>
              </a:spcBef>
            </a:pPr>
            <a:r>
              <a:rPr sz="900">
                <a:solidFill>
                  <a:srgbClr val="A7B1C2"/>
                </a:solidFill>
                <a:latin typeface="Arial"/>
              </a:rPr>
              <a:t>Platform intervention effectiveness: downranking, algorithmic filtering, and warning tags.</a:t>
            </a:r>
          </a:p>
        </p:txBody>
      </p:sp>
      <p:sp>
        <p:nvSpPr>
          <p:cNvPr id="25" name="Rectangle 24"/>
          <p:cNvSpPr/>
          <p:nvPr/>
        </p:nvSpPr>
        <p:spPr>
          <a:xfrm>
            <a:off x="8055864" y="4709160"/>
            <a:ext cx="3401568" cy="16916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55864" y="4709160"/>
            <a:ext cx="3401568"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0456" y="4846320"/>
            <a:ext cx="3072384" cy="1417320"/>
          </a:xfrm>
          <a:prstGeom prst="rect">
            <a:avLst/>
          </a:prstGeom>
          <a:noFill/>
        </p:spPr>
        <p:txBody>
          <a:bodyPr wrap="square" lIns="0" tIns="0" rIns="0" bIns="0">
            <a:spAutoFit/>
          </a:bodyPr>
          <a:lstStyle/>
          <a:p>
            <a:r>
              <a:rPr sz="1000" b="1">
                <a:solidFill>
                  <a:srgbClr val="6475FF"/>
                </a:solidFill>
                <a:latin typeface="Arial"/>
              </a:rPr>
              <a:t>β_eff · EFFECTIVE VIRALITY</a:t>
            </a:r>
          </a:p>
          <a:p>
            <a:pPr>
              <a:spcBef>
                <a:spcPts val="300"/>
              </a:spcBef>
            </a:pPr>
            <a:r>
              <a:rPr sz="1300" b="1">
                <a:solidFill>
                  <a:srgbClr val="F1F5F9"/>
                </a:solidFill>
                <a:latin typeface="Courier New"/>
              </a:rPr>
              <a:t>β · (1 - m) = 0.175</a:t>
            </a:r>
          </a:p>
          <a:p>
            <a:pPr>
              <a:spcBef>
                <a:spcPts val="300"/>
              </a:spcBef>
            </a:pPr>
            <a:r>
              <a:rPr sz="900">
                <a:solidFill>
                  <a:srgbClr val="A7B1C2"/>
                </a:solidFill>
                <a:latin typeface="Arial"/>
              </a:rPr>
              <a:t>Net transmission rate under active moderation policy (0.35 × 0.50 = 0.175).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08 · QUANTITATIVE FINDINGS</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Simulation Results: Baseline vs. Moderated Contagion</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10728655" cy="50292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72768"/>
            <a:ext cx="10271455" cy="365760"/>
          </a:xfrm>
          <a:prstGeom prst="rect">
            <a:avLst/>
          </a:prstGeom>
          <a:noFill/>
        </p:spPr>
        <p:txBody>
          <a:bodyPr wrap="square" lIns="0" tIns="0" rIns="0" bIns="0">
            <a:spAutoFit/>
          </a:bodyPr>
          <a:lstStyle/>
          <a:p>
            <a:r>
              <a:rPr sz="1100" b="1">
                <a:solidFill>
                  <a:srgbClr val="00E5FF"/>
                </a:solidFill>
                <a:latin typeface="Courier New"/>
              </a:rPr>
              <a:t>SIMULATION PARAMETERS:  N = 10,000  ·  I₀ = 100  ·  β = 0.35  ·  m = 0.50  ·  T = 30 STEPS</a:t>
            </a:r>
          </a:p>
        </p:txBody>
      </p:sp>
      <p:sp>
        <p:nvSpPr>
          <p:cNvPr id="9" name="Rectangle 8"/>
          <p:cNvSpPr/>
          <p:nvPr/>
        </p:nvSpPr>
        <p:spPr>
          <a:xfrm>
            <a:off x="731520" y="2148840"/>
            <a:ext cx="2514600" cy="19659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148840"/>
            <a:ext cx="2514600" cy="36576"/>
          </a:xfrm>
          <a:prstGeom prst="rect">
            <a:avLst/>
          </a:prstGeom>
          <a:solidFill>
            <a:srgbClr val="F4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286000"/>
            <a:ext cx="2185416" cy="1691640"/>
          </a:xfrm>
          <a:prstGeom prst="rect">
            <a:avLst/>
          </a:prstGeom>
          <a:noFill/>
        </p:spPr>
        <p:txBody>
          <a:bodyPr wrap="square" lIns="0" tIns="0" rIns="0" bIns="0">
            <a:spAutoFit/>
          </a:bodyPr>
          <a:lstStyle/>
          <a:p>
            <a:r>
              <a:rPr sz="950" b="1">
                <a:solidFill>
                  <a:srgbClr val="F43F5E"/>
                </a:solidFill>
                <a:latin typeface="Arial"/>
              </a:rPr>
              <a:t>BASELINE EXPOSURE</a:t>
            </a:r>
          </a:p>
          <a:p>
            <a:pPr>
              <a:spcBef>
                <a:spcPts val="300"/>
              </a:spcBef>
            </a:pPr>
            <a:r>
              <a:rPr sz="2600" b="1">
                <a:solidFill>
                  <a:srgbClr val="F1F5F9"/>
                </a:solidFill>
                <a:latin typeface="Courier New"/>
              </a:rPr>
              <a:t>9,981</a:t>
            </a:r>
          </a:p>
          <a:p>
            <a:pPr>
              <a:spcBef>
                <a:spcPts val="200"/>
              </a:spcBef>
            </a:pPr>
            <a:r>
              <a:rPr sz="950" b="1">
                <a:solidFill>
                  <a:srgbClr val="F43F5E"/>
                </a:solidFill>
                <a:latin typeface="Arial"/>
              </a:rPr>
              <a:t>99.8% Saturated</a:t>
            </a:r>
          </a:p>
          <a:p>
            <a:pPr>
              <a:spcBef>
                <a:spcPts val="300"/>
              </a:spcBef>
            </a:pPr>
            <a:r>
              <a:rPr sz="850">
                <a:solidFill>
                  <a:srgbClr val="A7B1C2"/>
                </a:solidFill>
                <a:latin typeface="Arial"/>
              </a:rPr>
              <a:t>Laissez-faire (m = 0.00) saturates almost entire population.</a:t>
            </a:r>
          </a:p>
        </p:txBody>
      </p:sp>
      <p:sp>
        <p:nvSpPr>
          <p:cNvPr id="12" name="Rectangle 11"/>
          <p:cNvSpPr/>
          <p:nvPr/>
        </p:nvSpPr>
        <p:spPr>
          <a:xfrm>
            <a:off x="3465576" y="2148840"/>
            <a:ext cx="2514600" cy="19659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65576" y="2148840"/>
            <a:ext cx="2514600"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0168" y="2286000"/>
            <a:ext cx="2185416" cy="1691640"/>
          </a:xfrm>
          <a:prstGeom prst="rect">
            <a:avLst/>
          </a:prstGeom>
          <a:noFill/>
        </p:spPr>
        <p:txBody>
          <a:bodyPr wrap="square" lIns="0" tIns="0" rIns="0" bIns="0">
            <a:spAutoFit/>
          </a:bodyPr>
          <a:lstStyle/>
          <a:p>
            <a:r>
              <a:rPr sz="950" b="1">
                <a:solidFill>
                  <a:srgbClr val="6475FF"/>
                </a:solidFill>
                <a:latin typeface="Arial"/>
              </a:rPr>
              <a:t>MODERATED EXPOSURE</a:t>
            </a:r>
          </a:p>
          <a:p>
            <a:pPr>
              <a:spcBef>
                <a:spcPts val="300"/>
              </a:spcBef>
            </a:pPr>
            <a:r>
              <a:rPr sz="2600" b="1">
                <a:solidFill>
                  <a:srgbClr val="F1F5F9"/>
                </a:solidFill>
                <a:latin typeface="Courier New"/>
              </a:rPr>
              <a:t>5,936</a:t>
            </a:r>
          </a:p>
          <a:p>
            <a:pPr>
              <a:spcBef>
                <a:spcPts val="200"/>
              </a:spcBef>
            </a:pPr>
            <a:r>
              <a:rPr sz="950" b="1">
                <a:solidFill>
                  <a:srgbClr val="6475FF"/>
                </a:solidFill>
                <a:latin typeface="Arial"/>
              </a:rPr>
              <a:t>59.4% Final Exposure</a:t>
            </a:r>
          </a:p>
          <a:p>
            <a:pPr>
              <a:spcBef>
                <a:spcPts val="300"/>
              </a:spcBef>
            </a:pPr>
            <a:r>
              <a:rPr sz="850">
                <a:solidFill>
                  <a:srgbClr val="A7B1C2"/>
                </a:solidFill>
                <a:latin typeface="Arial"/>
              </a:rPr>
              <a:t>Active policy (m = 0.50) successfully caps viral propagation.</a:t>
            </a:r>
          </a:p>
        </p:txBody>
      </p:sp>
      <p:sp>
        <p:nvSpPr>
          <p:cNvPr id="15" name="Rectangle 14"/>
          <p:cNvSpPr/>
          <p:nvPr/>
        </p:nvSpPr>
        <p:spPr>
          <a:xfrm>
            <a:off x="6199632" y="2148840"/>
            <a:ext cx="2514600" cy="19659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99632" y="2148840"/>
            <a:ext cx="2514600"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2286000"/>
            <a:ext cx="2185416" cy="1691640"/>
          </a:xfrm>
          <a:prstGeom prst="rect">
            <a:avLst/>
          </a:prstGeom>
          <a:noFill/>
        </p:spPr>
        <p:txBody>
          <a:bodyPr wrap="square" lIns="0" tIns="0" rIns="0" bIns="0">
            <a:spAutoFit/>
          </a:bodyPr>
          <a:lstStyle/>
          <a:p>
            <a:r>
              <a:rPr sz="950" b="1">
                <a:solidFill>
                  <a:srgbClr val="00C9A7"/>
                </a:solidFill>
                <a:latin typeface="Arial"/>
              </a:rPr>
              <a:t>USERS PROTECTED</a:t>
            </a:r>
          </a:p>
          <a:p>
            <a:pPr>
              <a:spcBef>
                <a:spcPts val="300"/>
              </a:spcBef>
            </a:pPr>
            <a:r>
              <a:rPr sz="2600" b="1">
                <a:solidFill>
                  <a:srgbClr val="F1F5F9"/>
                </a:solidFill>
                <a:latin typeface="Courier New"/>
              </a:rPr>
              <a:t>4,044</a:t>
            </a:r>
          </a:p>
          <a:p>
            <a:pPr>
              <a:spcBef>
                <a:spcPts val="200"/>
              </a:spcBef>
            </a:pPr>
            <a:r>
              <a:rPr sz="950" b="1">
                <a:solidFill>
                  <a:srgbClr val="00C9A7"/>
                </a:solidFill>
                <a:latin typeface="Arial"/>
              </a:rPr>
              <a:t>Infections Prevented</a:t>
            </a:r>
          </a:p>
          <a:p>
            <a:pPr>
              <a:spcBef>
                <a:spcPts val="300"/>
              </a:spcBef>
            </a:pPr>
            <a:r>
              <a:rPr sz="850">
                <a:solidFill>
                  <a:srgbClr val="A7B1C2"/>
                </a:solidFill>
                <a:latin typeface="Arial"/>
              </a:rPr>
              <a:t>Absolute individuals shielded from fake narrative exposure.</a:t>
            </a:r>
          </a:p>
        </p:txBody>
      </p:sp>
      <p:sp>
        <p:nvSpPr>
          <p:cNvPr id="18" name="Rectangle 17"/>
          <p:cNvSpPr/>
          <p:nvPr/>
        </p:nvSpPr>
        <p:spPr>
          <a:xfrm>
            <a:off x="8942832" y="2148840"/>
            <a:ext cx="2514600" cy="19659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42832" y="2148840"/>
            <a:ext cx="2514600"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07424" y="2286000"/>
            <a:ext cx="2185416" cy="1691640"/>
          </a:xfrm>
          <a:prstGeom prst="rect">
            <a:avLst/>
          </a:prstGeom>
          <a:noFill/>
        </p:spPr>
        <p:txBody>
          <a:bodyPr wrap="square" lIns="0" tIns="0" rIns="0" bIns="0">
            <a:spAutoFit/>
          </a:bodyPr>
          <a:lstStyle/>
          <a:p>
            <a:r>
              <a:rPr sz="950" b="1">
                <a:solidFill>
                  <a:srgbClr val="00E5FF"/>
                </a:solidFill>
                <a:latin typeface="Arial"/>
              </a:rPr>
              <a:t>EXPOSURE REDUCTION</a:t>
            </a:r>
          </a:p>
          <a:p>
            <a:pPr>
              <a:spcBef>
                <a:spcPts val="300"/>
              </a:spcBef>
            </a:pPr>
            <a:r>
              <a:rPr sz="2600" b="1">
                <a:solidFill>
                  <a:srgbClr val="F1F5F9"/>
                </a:solidFill>
                <a:latin typeface="Courier New"/>
              </a:rPr>
              <a:t>40.5%</a:t>
            </a:r>
          </a:p>
          <a:p>
            <a:pPr>
              <a:spcBef>
                <a:spcPts val="200"/>
              </a:spcBef>
            </a:pPr>
            <a:r>
              <a:rPr sz="950" b="1">
                <a:solidFill>
                  <a:srgbClr val="00E5FF"/>
                </a:solidFill>
                <a:latin typeface="Arial"/>
              </a:rPr>
              <a:t>Calculated Reduction</a:t>
            </a:r>
          </a:p>
          <a:p>
            <a:pPr>
              <a:spcBef>
                <a:spcPts val="300"/>
              </a:spcBef>
            </a:pPr>
            <a:r>
              <a:rPr sz="850">
                <a:solidFill>
                  <a:srgbClr val="A7B1C2"/>
                </a:solidFill>
                <a:latin typeface="Arial"/>
              </a:rPr>
              <a:t>Empirical percentage decrease in cumulative narrative saturation.</a:t>
            </a:r>
          </a:p>
        </p:txBody>
      </p:sp>
      <p:sp>
        <p:nvSpPr>
          <p:cNvPr id="21" name="Rectangle 20"/>
          <p:cNvSpPr/>
          <p:nvPr/>
        </p:nvSpPr>
        <p:spPr>
          <a:xfrm>
            <a:off x="731520" y="4297680"/>
            <a:ext cx="10728655" cy="205740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4297680"/>
            <a:ext cx="10728655"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434840"/>
            <a:ext cx="10271455" cy="1828800"/>
          </a:xfrm>
          <a:prstGeom prst="rect">
            <a:avLst/>
          </a:prstGeom>
          <a:noFill/>
        </p:spPr>
        <p:txBody>
          <a:bodyPr wrap="square" lIns="0" tIns="0" rIns="0" bIns="0">
            <a:spAutoFit/>
          </a:bodyPr>
          <a:lstStyle/>
          <a:p>
            <a:r>
              <a:rPr sz="1100" b="1">
                <a:solidFill>
                  <a:srgbClr val="00C9A7"/>
                </a:solidFill>
                <a:latin typeface="Arial"/>
              </a:rPr>
              <a:t>KEY EMPIRICAL &amp; ANALYTICAL TAKEAWAYS</a:t>
            </a:r>
          </a:p>
          <a:p>
            <a:pPr>
              <a:spcBef>
                <a:spcPts val="500"/>
              </a:spcBef>
            </a:pPr>
            <a:r>
              <a:rPr sz="950" b="1">
                <a:solidFill>
                  <a:srgbClr val="F1F5F9"/>
                </a:solidFill>
                <a:latin typeface="Arial"/>
              </a:rPr>
              <a:t>▸ Sigmoidal Saturation Flattening: </a:t>
            </a:r>
            <a:r>
              <a:rPr sz="900">
                <a:solidFill>
                  <a:srgbClr val="A7B1C2"/>
                </a:solidFill>
                <a:latin typeface="Arial"/>
              </a:rPr>
              <a:t>Laissez-faire baseline policy (m = 0.00) rapidly infects 9,981 individuals (99.8% saturation). Active moderation policy (m = 0.50) successfully dampens effective virality, capping final exposure at 5,936 individuals.</a:t>
            </a:r>
          </a:p>
          <a:p>
            <a:pPr>
              <a:spcBef>
                <a:spcPts val="500"/>
              </a:spcBef>
            </a:pPr>
            <a:r>
              <a:rPr sz="950" b="1">
                <a:solidFill>
                  <a:srgbClr val="F1F5F9"/>
                </a:solidFill>
                <a:latin typeface="Arial"/>
              </a:rPr>
              <a:t>▸ Inflection Point Shift &amp; Response Latency: </a:t>
            </a:r>
            <a:r>
              <a:rPr sz="900">
                <a:solidFill>
                  <a:srgbClr val="A7B1C2"/>
                </a:solidFill>
                <a:latin typeface="Arial"/>
              </a:rPr>
              <a:t>Maximum infection acceleration is significantly delayed from Step 14 (baseline) to Step 28 (moderated), buying critical operational response time for verification systems and public fact-checkers.</a:t>
            </a:r>
          </a:p>
          <a:p>
            <a:pPr>
              <a:spcBef>
                <a:spcPts val="500"/>
              </a:spcBef>
            </a:pPr>
            <a:r>
              <a:rPr sz="950" b="1">
                <a:solidFill>
                  <a:srgbClr val="F1F5F9"/>
                </a:solidFill>
                <a:latin typeface="Arial"/>
              </a:rPr>
              <a:t>▸ Defensive Intervention Delta: </a:t>
            </a:r>
            <a:r>
              <a:rPr sz="900">
                <a:solidFill>
                  <a:srgbClr val="A7B1C2"/>
                </a:solidFill>
                <a:latin typeface="Arial"/>
              </a:rPr>
              <a:t>The green shaded region between the two simulated curves visualizes exactly 4,044 individuals completely shielded from narrative contact, representing a verified 40.5% exposure reduction.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09 · SOFTWARE ARTIFACT</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Application Demonstration: Interactive Web Interface</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5230368" cy="3749039"/>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08760"/>
            <a:ext cx="52303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2_payoff_matrix.png"/>
          <p:cNvPicPr>
            <a:picLocks noChangeAspect="1"/>
          </p:cNvPicPr>
          <p:nvPr/>
        </p:nvPicPr>
        <p:blipFill>
          <a:blip r:embed="rId2"/>
          <a:stretch>
            <a:fillRect/>
          </a:stretch>
        </p:blipFill>
        <p:spPr>
          <a:xfrm>
            <a:off x="777240" y="1600200"/>
            <a:ext cx="5138928" cy="3611880"/>
          </a:xfrm>
          <a:prstGeom prst="rect">
            <a:avLst/>
          </a:prstGeom>
        </p:spPr>
      </p:pic>
      <p:sp>
        <p:nvSpPr>
          <p:cNvPr id="10" name="Rectangle 9"/>
          <p:cNvSpPr/>
          <p:nvPr/>
        </p:nvSpPr>
        <p:spPr>
          <a:xfrm>
            <a:off x="731520" y="5394960"/>
            <a:ext cx="5230368" cy="10515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468112"/>
            <a:ext cx="4864608" cy="914400"/>
          </a:xfrm>
          <a:prstGeom prst="rect">
            <a:avLst/>
          </a:prstGeom>
          <a:noFill/>
        </p:spPr>
        <p:txBody>
          <a:bodyPr wrap="square" lIns="0" tIns="0" rIns="0" bIns="0">
            <a:spAutoFit/>
          </a:bodyPr>
          <a:lstStyle/>
          <a:p>
            <a:r>
              <a:rPr sz="1000" b="1">
                <a:solidFill>
                  <a:srgbClr val="00E5FF"/>
                </a:solidFill>
                <a:latin typeface="Arial"/>
              </a:rPr>
              <a:t>MODULE 01: STRATEGIC PAYOFF MATRIX &amp; NASH EQUILIBRIUM</a:t>
            </a:r>
          </a:p>
          <a:p>
            <a:pPr>
              <a:spcBef>
                <a:spcPts val="300"/>
              </a:spcBef>
            </a:pPr>
            <a:r>
              <a:rPr sz="850">
                <a:solidFill>
                  <a:srgbClr val="A7B1C2"/>
                </a:solidFill>
                <a:latin typeface="Arial"/>
              </a:rPr>
              <a:t>Interactive 2×2 payoff matrix with automated best-response computation, live Nash equilibrium detection (0.0, 2.0), interactive payoff editing, and scenario preset loading.</a:t>
            </a:r>
          </a:p>
        </p:txBody>
      </p:sp>
      <p:sp>
        <p:nvSpPr>
          <p:cNvPr id="12" name="Rectangle 11"/>
          <p:cNvSpPr/>
          <p:nvPr/>
        </p:nvSpPr>
        <p:spPr>
          <a:xfrm>
            <a:off x="6227064" y="1508760"/>
            <a:ext cx="5230368" cy="3749039"/>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7064" y="1508760"/>
            <a:ext cx="5230368" cy="36576"/>
          </a:xfrm>
          <a:prstGeom prst="rect">
            <a:avLst/>
          </a:prstGeom>
          <a:solidFill>
            <a:srgbClr val="00C9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3_diffusion_graph.png"/>
          <p:cNvPicPr>
            <a:picLocks noChangeAspect="1"/>
          </p:cNvPicPr>
          <p:nvPr/>
        </p:nvPicPr>
        <p:blipFill>
          <a:blip r:embed="rId3"/>
          <a:stretch>
            <a:fillRect/>
          </a:stretch>
        </p:blipFill>
        <p:spPr>
          <a:xfrm>
            <a:off x="6272784" y="1600200"/>
            <a:ext cx="5138928" cy="3611880"/>
          </a:xfrm>
          <a:prstGeom prst="rect">
            <a:avLst/>
          </a:prstGeom>
        </p:spPr>
      </p:pic>
      <p:sp>
        <p:nvSpPr>
          <p:cNvPr id="15" name="Rectangle 14"/>
          <p:cNvSpPr/>
          <p:nvPr/>
        </p:nvSpPr>
        <p:spPr>
          <a:xfrm>
            <a:off x="6227064" y="5394960"/>
            <a:ext cx="5230368" cy="105156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9944" y="5468112"/>
            <a:ext cx="4864608" cy="914400"/>
          </a:xfrm>
          <a:prstGeom prst="rect">
            <a:avLst/>
          </a:prstGeom>
          <a:noFill/>
        </p:spPr>
        <p:txBody>
          <a:bodyPr wrap="square" lIns="0" tIns="0" rIns="0" bIns="0">
            <a:spAutoFit/>
          </a:bodyPr>
          <a:lstStyle/>
          <a:p>
            <a:r>
              <a:rPr sz="1000" b="1">
                <a:solidFill>
                  <a:srgbClr val="00C9A7"/>
                </a:solidFill>
                <a:latin typeface="Arial"/>
              </a:rPr>
              <a:t>MODULE 02: DISCRETE LOGISTIC SIMULATOR &amp; ANALYTICS</a:t>
            </a:r>
          </a:p>
          <a:p>
            <a:pPr>
              <a:spcBef>
                <a:spcPts val="300"/>
              </a:spcBef>
            </a:pPr>
            <a:r>
              <a:rPr sz="850">
                <a:solidFill>
                  <a:srgbClr val="A7B1C2"/>
                </a:solidFill>
                <a:latin typeface="Arial"/>
              </a:rPr>
              <a:t>Interactive parameter sliders (N, I₀, β, m, T) powering dual-curve Canvas visualization, real-time exposure comparison, and instant calculation of infections prevented (4,044).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84048"/>
            <a:ext cx="10728655" cy="256032"/>
          </a:xfrm>
          <a:prstGeom prst="rect">
            <a:avLst/>
          </a:prstGeom>
          <a:noFill/>
        </p:spPr>
        <p:txBody>
          <a:bodyPr wrap="square" lIns="0" tIns="0" rIns="0" bIns="0">
            <a:spAutoFit/>
          </a:bodyPr>
          <a:lstStyle/>
          <a:p>
            <a:r>
              <a:rPr sz="950" b="1">
                <a:solidFill>
                  <a:srgbClr val="00E5FF"/>
                </a:solidFill>
                <a:latin typeface="Arial"/>
              </a:rPr>
              <a:t>GAME THEORY ACADEMIC PROJECT // 10 · SYNTHESIS</a:t>
            </a:r>
          </a:p>
        </p:txBody>
      </p:sp>
      <p:sp>
        <p:nvSpPr>
          <p:cNvPr id="4" name="TextBox 3"/>
          <p:cNvSpPr txBox="1"/>
          <p:nvPr/>
        </p:nvSpPr>
        <p:spPr>
          <a:xfrm>
            <a:off x="731520" y="640080"/>
            <a:ext cx="10728655" cy="594360"/>
          </a:xfrm>
          <a:prstGeom prst="rect">
            <a:avLst/>
          </a:prstGeom>
          <a:noFill/>
        </p:spPr>
        <p:txBody>
          <a:bodyPr wrap="square" lIns="0" tIns="0" rIns="0" bIns="0">
            <a:spAutoFit/>
          </a:bodyPr>
          <a:lstStyle/>
          <a:p>
            <a:r>
              <a:rPr sz="2200" b="1">
                <a:solidFill>
                  <a:srgbClr val="F1F5F9"/>
                </a:solidFill>
                <a:latin typeface="Arial"/>
              </a:rPr>
              <a:t>Conclusion and Future Research Directions</a:t>
            </a:r>
          </a:p>
        </p:txBody>
      </p:sp>
      <p:sp>
        <p:nvSpPr>
          <p:cNvPr id="5" name="Rectangle 4"/>
          <p:cNvSpPr/>
          <p:nvPr/>
        </p:nvSpPr>
        <p:spPr>
          <a:xfrm>
            <a:off x="731520" y="1298448"/>
            <a:ext cx="10728655" cy="13716"/>
          </a:xfrm>
          <a:prstGeom prst="rect">
            <a:avLst/>
          </a:prstGeom>
          <a:solidFill>
            <a:srgbClr val="2533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298448"/>
            <a:ext cx="1371600" cy="2286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508760"/>
            <a:ext cx="5230368" cy="48920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508760"/>
            <a:ext cx="5230368" cy="36576"/>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91640"/>
            <a:ext cx="4773168" cy="4572000"/>
          </a:xfrm>
          <a:prstGeom prst="rect">
            <a:avLst/>
          </a:prstGeom>
          <a:noFill/>
        </p:spPr>
        <p:txBody>
          <a:bodyPr wrap="square" lIns="0" tIns="0" rIns="0" bIns="0">
            <a:spAutoFit/>
          </a:bodyPr>
          <a:lstStyle/>
          <a:p>
            <a:r>
              <a:rPr sz="1200" b="1">
                <a:solidFill>
                  <a:srgbClr val="00E5FF"/>
                </a:solidFill>
                <a:latin typeface="Arial"/>
              </a:rPr>
              <a:t>THREE CORE STRATEGIC TAKEAWAYS</a:t>
            </a:r>
          </a:p>
          <a:p>
            <a:pPr>
              <a:spcBef>
                <a:spcPts val="800"/>
              </a:spcBef>
            </a:pPr>
            <a:r>
              <a:rPr sz="1000" b="1">
                <a:solidFill>
                  <a:srgbClr val="F1F5F9"/>
                </a:solidFill>
                <a:latin typeface="Arial"/>
              </a:rPr>
              <a:t>▸ 1. Strategic Deterrence Mechanism:
</a:t>
            </a:r>
            <a:r>
              <a:rPr sz="900">
                <a:solidFill>
                  <a:srgbClr val="A7B1C2"/>
                </a:solidFill>
                <a:latin typeface="Arial"/>
              </a:rPr>
              <a:t>Misinformation propagation is fundamentally driven by economic incentives; passive moderation inevitably induces viral exploitation (+5.0). Credible strong moderation enforces negative returns (-2.0), flipping the publisher's best response.</a:t>
            </a:r>
          </a:p>
          <a:p>
            <a:pPr>
              <a:spcBef>
                <a:spcPts val="800"/>
              </a:spcBef>
            </a:pPr>
            <a:r>
              <a:rPr sz="1000" b="1">
                <a:solidFill>
                  <a:srgbClr val="F1F5F9"/>
                </a:solidFill>
                <a:latin typeface="Arial"/>
              </a:rPr>
              <a:t>▸ 2. Spontaneous Equilibrium Compliance:
</a:t>
            </a:r>
            <a:r>
              <a:rPr sz="900">
                <a:solidFill>
                  <a:srgbClr val="A7B1C2"/>
                </a:solidFill>
                <a:latin typeface="Arial"/>
              </a:rPr>
              <a:t>Because Strong Moderation is strictly dominant (M ≻ W), the unique Nash equilibrium (N, M) achieves voluntary compliance, preventing misinformation ex-ante without perpetual manual post-hoc censorship.</a:t>
            </a:r>
          </a:p>
          <a:p>
            <a:pPr>
              <a:spcBef>
                <a:spcPts val="800"/>
              </a:spcBef>
            </a:pPr>
            <a:r>
              <a:rPr sz="1000" b="1">
                <a:solidFill>
                  <a:srgbClr val="F1F5F9"/>
                </a:solidFill>
                <a:latin typeface="Arial"/>
              </a:rPr>
              <a:t>▸ 3. Macro-Micro Quantitative Validation:
</a:t>
            </a:r>
            <a:r>
              <a:rPr sz="900">
                <a:solidFill>
                  <a:srgbClr val="A7B1C2"/>
                </a:solidFill>
                <a:latin typeface="Arial"/>
              </a:rPr>
              <a:t>Coupling game-theoretic utility to a discrete logistic contagion model demonstrates that moderate intervention (m = 0.50) achieves a verified 40.5% exposure reduction (4,044 protected users).</a:t>
            </a:r>
          </a:p>
          <a:p>
            <a:pPr>
              <a:spcBef>
                <a:spcPts val="800"/>
              </a:spcBef>
            </a:pPr>
            <a:r>
              <a:rPr sz="1000" b="1">
                <a:solidFill>
                  <a:srgbClr val="F1F5F9"/>
                </a:solidFill>
                <a:latin typeface="Arial"/>
              </a:rPr>
              <a:t>▸ 4. Zero-Backend Production Tool:
</a:t>
            </a:r>
            <a:r>
              <a:rPr sz="900">
                <a:solidFill>
                  <a:srgbClr val="A7B1C2"/>
                </a:solidFill>
                <a:latin typeface="Arial"/>
              </a:rPr>
              <a:t>Delivered a lightweight, client-side web application in pure JavaScript/HTML5 deployed on Vercel, proving high accessibility for academic demonstration.</a:t>
            </a:r>
          </a:p>
        </p:txBody>
      </p:sp>
      <p:sp>
        <p:nvSpPr>
          <p:cNvPr id="10" name="Rectangle 9"/>
          <p:cNvSpPr/>
          <p:nvPr/>
        </p:nvSpPr>
        <p:spPr>
          <a:xfrm>
            <a:off x="6227064" y="1508760"/>
            <a:ext cx="5230368" cy="4892040"/>
          </a:xfrm>
          <a:prstGeom prst="rect">
            <a:avLst/>
          </a:prstGeom>
          <a:solidFill>
            <a:srgbClr val="131B31"/>
          </a:solidFill>
          <a:ln w="12700">
            <a:solidFill>
              <a:srgbClr val="25334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7064" y="1508760"/>
            <a:ext cx="5230368" cy="36576"/>
          </a:xfrm>
          <a:prstGeom prst="rect">
            <a:avLst/>
          </a:prstGeom>
          <a:solidFill>
            <a:srgbClr val="647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691640"/>
            <a:ext cx="4773168" cy="4572000"/>
          </a:xfrm>
          <a:prstGeom prst="rect">
            <a:avLst/>
          </a:prstGeom>
          <a:noFill/>
        </p:spPr>
        <p:txBody>
          <a:bodyPr wrap="square" lIns="0" tIns="0" rIns="0" bIns="0">
            <a:spAutoFit/>
          </a:bodyPr>
          <a:lstStyle/>
          <a:p>
            <a:r>
              <a:rPr sz="1200" b="1">
                <a:solidFill>
                  <a:srgbClr val="6475FF"/>
                </a:solidFill>
                <a:latin typeface="Arial"/>
              </a:rPr>
              <a:t>ACADEMIC LIMITATIONS &amp; FUTURE RESEARCH</a:t>
            </a:r>
          </a:p>
          <a:p>
            <a:pPr>
              <a:spcBef>
                <a:spcPts val="800"/>
              </a:spcBef>
            </a:pPr>
            <a:r>
              <a:rPr sz="1000" b="1">
                <a:solidFill>
                  <a:srgbClr val="F1F5F9"/>
                </a:solidFill>
                <a:latin typeface="Arial"/>
              </a:rPr>
              <a:t>▸ 1. Network Topology Generalization:
</a:t>
            </a:r>
            <a:r>
              <a:rPr sz="900">
                <a:solidFill>
                  <a:srgbClr val="A7B1C2"/>
                </a:solidFill>
                <a:latin typeface="Arial"/>
              </a:rPr>
              <a:t>Extend the homogeneous well-mixed population model to heterogeneous scale-free (Barabási–Albert) contact graphs to analyze targeted hub moderation.</a:t>
            </a:r>
          </a:p>
          <a:p>
            <a:pPr>
              <a:spcBef>
                <a:spcPts val="800"/>
              </a:spcBef>
            </a:pPr>
            <a:r>
              <a:rPr sz="1000" b="1">
                <a:solidFill>
                  <a:srgbClr val="F1F5F9"/>
                </a:solidFill>
                <a:latin typeface="Arial"/>
              </a:rPr>
              <a:t>▸ 2. Bayesian Incomplete Information Games:
</a:t>
            </a:r>
            <a:r>
              <a:rPr sz="900">
                <a:solidFill>
                  <a:srgbClr val="A7B1C2"/>
                </a:solidFill>
                <a:latin typeface="Arial"/>
              </a:rPr>
              <a:t>Model uncertainty where the platform faces heterogeneous publisher types (e.g., financially motivated spammers vs. ideologically committed zealots).</a:t>
            </a:r>
          </a:p>
          <a:p>
            <a:pPr>
              <a:spcBef>
                <a:spcPts val="800"/>
              </a:spcBef>
            </a:pPr>
            <a:r>
              <a:rPr sz="1000" b="1">
                <a:solidFill>
                  <a:srgbClr val="F1F5F9"/>
                </a:solidFill>
                <a:latin typeface="Arial"/>
              </a:rPr>
              <a:t>▸ 3. Dynamic Repeated Games with Reputation:
</a:t>
            </a:r>
            <a:r>
              <a:rPr sz="900">
                <a:solidFill>
                  <a:srgbClr val="A7B1C2"/>
                </a:solidFill>
                <a:latin typeface="Arial"/>
              </a:rPr>
              <a:t>Expand the static single-period interaction into an infinitely repeated game with discount factor δ, modeling publisher reputation histories and punishment strategies.</a:t>
            </a:r>
          </a:p>
          <a:p>
            <a:pPr>
              <a:spcBef>
                <a:spcPts val="800"/>
              </a:spcBef>
            </a:pPr>
            <a:r>
              <a:rPr sz="1000" b="1">
                <a:solidFill>
                  <a:srgbClr val="F1F5F9"/>
                </a:solidFill>
                <a:latin typeface="Arial"/>
              </a:rPr>
              <a:t>▸ 4. Adversarial Machine Learning Co-Evolution:
</a:t>
            </a:r>
            <a:r>
              <a:rPr sz="900">
                <a:solidFill>
                  <a:srgbClr val="A7B1C2"/>
                </a:solidFill>
                <a:latin typeface="Arial"/>
              </a:rPr>
              <a:t>Simulate multi-agent reinforcement learning where publishers dynamically evolve adversarial text evasion tactics against platform automated classifiers.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