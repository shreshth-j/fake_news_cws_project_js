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822960"/>
            <a:ext cx="103628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Calibri"/>
              </a:rPr>
              <a:t>B.TECH ACADEMIC CAPSTONE PROJECT  ·  COURSE: GAME THEORY
</a:t>
            </a:r>
          </a:p>
          <a:p>
            <a:pPr>
              <a:spcBef>
                <a:spcPts val="800"/>
              </a:spcBef>
            </a:pPr>
            <a:r>
              <a:rPr sz="2600" b="1">
                <a:solidFill>
                  <a:srgbClr val="0F172A"/>
                </a:solidFill>
                <a:latin typeface="Georgia"/>
              </a:rPr>
              <a:t>Game-Theoretic Analysis of Fake News Propagation
and Platform Moderation Strategies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Game-Theoretic Contagion and Strategic Deterrence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566160"/>
            <a:ext cx="944849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703320"/>
            <a:ext cx="886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Calibri"/>
              </a:rPr>
              <a:t>Project Investigators &amp; Authors: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Shreshth Juneja  —  Registration Number: 2427030246
• Devaanshee Agarwal  —  Registration Number: 2427030504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4748B"/>
                </a:solidFill>
                <a:latin typeface="Calibri"/>
              </a:rPr>
              <a:t>Department of Computer Science &amp; Engineering  |  Interactive Web-Native Architecture on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Georgia"/>
              </a:rPr>
              <a:t>The Misinformation Dilemma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Informational Security Challenge: </a:t>
            </a:r>
            <a:r>
              <a:rPr>
                <a:solidFill>
                  <a:srgbClr val="1E293B"/>
                </a:solidFill>
              </a:rPr>
              <a:t>Viral fake news spreads faster, deeper, and more broadly than truthful reports across modern digital platforms.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Conflicting Incentives: </a:t>
            </a:r>
            <a:r>
              <a:rPr>
                <a:solidFill>
                  <a:srgbClr val="1E293B"/>
                </a:solidFill>
              </a:rPr>
              <a:t>Content sharers optimize for social attention, virality, monetization, and peer reach, while platforms seek to preserve advertiser trust and community integrity.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Defensive Interdependence: </a:t>
            </a:r>
            <a:r>
              <a:rPr>
                <a:solidFill>
                  <a:srgbClr val="1E293B"/>
                </a:solidFill>
              </a:rPr>
              <a:t>Technical filtering in isolation fails because rational sharers dynamically alter their tactics in response to defensive countermeasures.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Strategic Alignment: </a:t>
            </a:r>
            <a:r>
              <a:rPr>
                <a:solidFill>
                  <a:srgbClr val="1E293B"/>
                </a:solidFill>
              </a:rPr>
              <a:t>Game Theory provides the mathematical formalization needed to analyze these strategic, non-cooperative incentives.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Georgia"/>
              </a:rPr>
              <a:t>Formal Problem Statement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Core Research Question: </a:t>
            </a:r>
            <a:r>
              <a:rPr>
                <a:solidFill>
                  <a:srgbClr val="1E293B"/>
                </a:solidFill>
              </a:rPr>
              <a:t>How can the strategic decisions of Content Sharers and Social Media Platforms be formulated within a mathematical game to predict equilibrium behavior?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Defensive Credibility Dilemma: </a:t>
            </a:r>
            <a:r>
              <a:rPr>
                <a:solidFill>
                  <a:srgbClr val="1E293B"/>
                </a:solidFill>
              </a:rPr>
              <a:t>Laissez-faire (Weak Moderation) minimizes immediate costs but causes severe reputational collapse (-4.0). Strong Moderation incurs overhead but enforces deterrence (+3.0).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Macro-Micro Coupling: </a:t>
            </a:r>
            <a:r>
              <a:rPr>
                <a:solidFill>
                  <a:srgbClr val="1E293B"/>
                </a:solidFill>
              </a:rPr>
              <a:t>How can strategic game-theoretic equilibria be directly linked to macroscopic epidemic contagion curves across network populations?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0284C7"/>
                </a:solidFill>
              </a:rPr>
              <a:t>Project Mission: </a:t>
            </a:r>
            <a:r>
              <a:rPr>
                <a:solidFill>
                  <a:srgbClr val="1E293B"/>
                </a:solidFill>
              </a:rPr>
              <a:t>Deliver an interactive, transparent simulation tool to explore how moderation policy credibility alters contagion saturation.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Objectives and Academic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1. Strategic Normal-Form Game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Model Content Sharers and Platforms as rational decision-makers in a 2-player non-cooperative game with calibrated action 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2. Payoff Matrix Formulation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Construct a 2×2 payoff matrix mapping reputational damages, engagement virality, operational overhead, and deterrence penalties.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3. Equilibrium &amp; Dominance Proof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Calculate player best-response correspondences, identify strictly dominant strategies, and solve for pure-strategy Nash equilibria.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4. Discrete Logistic Contagion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Formulate a discrete non-linear exposure recurrence to simulate epidemic diffusion over time with moderation damping.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74903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749039"/>
            <a:ext cx="33832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5. Quantitative Impact Metrics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Measure cumulative final exposure, peak outbreak steps, percentage exposure reduction, and total infections prevented.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4903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749039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6. Web Dashboard on Vercel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Implement a pure HTML5/CSS3/JavaScript single-page app with dual themes and zero backend dependencies, hosted on Vercel.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</a:rPr>
              <a:t>Academic Scope: Pedagogical simulation tool for Game Theory demonstration; payoffs are illustrative utility scores rather than commercial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Game-Theoretic Formulation: Players and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11D48"/>
                </a:solidFill>
                <a:latin typeface="Georgia"/>
              </a:rPr>
              <a:t>Player 1: Content Sharer (Spreader)</a:t>
            </a:r>
          </a:p>
          <a:p>
            <a:pPr>
              <a:spcBef>
                <a:spcPts val="400"/>
              </a:spcBef>
            </a:pPr>
            <a:r>
              <a:rPr sz="1000" i="1">
                <a:solidFill>
                  <a:srgbClr val="334155"/>
                </a:solidFill>
              </a:rPr>
              <a:t>Strategic Objective: Maximize social engagement, influence, and monetization.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F172A"/>
                </a:solidFill>
              </a:rPr>
              <a:t>Strategy S — Spread Fake News: </a:t>
            </a:r>
            <a:r>
              <a:rPr>
                <a:solidFill>
                  <a:srgbClr val="1E293B"/>
                </a:solidFill>
              </a:rPr>
              <a:t>Actively publish, amplify, or share sensationalized, unverified claims to generate viral attention, peer shares, and monetization.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F172A"/>
                </a:solidFill>
              </a:rPr>
              <a:t>Strategy N — Do Not Spread: </a:t>
            </a:r>
            <a:r>
              <a:rPr>
                <a:solidFill>
                  <a:srgbClr val="1E293B"/>
                </a:solidFill>
              </a:rPr>
              <a:t>Post organic truthful content, verify sources before disseminating, or voluntarily remain quiet, adhering to platform community standards.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F172A"/>
                </a:solidFill>
              </a:rPr>
              <a:t>Utility Trade-offs: </a:t>
            </a:r>
            <a:r>
              <a:rPr>
                <a:solidFill>
                  <a:srgbClr val="1E293B"/>
                </a:solidFill>
              </a:rPr>
              <a:t>Under weak moderation, spreading yields highest virality (+5.0); under strong moderation, punitive downranking inflicts negative utility (-2.0).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284C7"/>
                </a:solidFill>
                <a:latin typeface="Georgia"/>
              </a:rPr>
              <a:t>Player 2: Social Media Platform</a:t>
            </a:r>
          </a:p>
          <a:p>
            <a:pPr>
              <a:spcBef>
                <a:spcPts val="400"/>
              </a:spcBef>
            </a:pPr>
            <a:r>
              <a:rPr sz="1000" i="1">
                <a:solidFill>
                  <a:srgbClr val="334155"/>
                </a:solidFill>
              </a:rPr>
              <a:t>Strategic Objective: Preserve ecosystem trust and advertiser revenue net of costs.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F172A"/>
                </a:solidFill>
              </a:rPr>
              <a:t>Strategy W — Weak Moderation: </a:t>
            </a:r>
            <a:r>
              <a:rPr>
                <a:solidFill>
                  <a:srgbClr val="1E293B"/>
                </a:solidFill>
              </a:rPr>
              <a:t>Operate permissive, slack algorithmic filtering with minimal infrastructure overhead, but tolerate toxic misinformation spillover.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F172A"/>
                </a:solidFill>
              </a:rPr>
              <a:t>Strategy M — Strong Moderation: </a:t>
            </a:r>
            <a:r>
              <a:rPr>
                <a:solidFill>
                  <a:srgbClr val="1E293B"/>
                </a:solidFill>
              </a:rPr>
              <a:t>Invest in aggressive automated detection, fact-checking labels, algorithmic downranking, and account suspension sanctions.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F172A"/>
                </a:solidFill>
              </a:rPr>
              <a:t>Utility Trade-offs: </a:t>
            </a:r>
            <a:r>
              <a:rPr>
                <a:solidFill>
                  <a:srgbClr val="1E293B"/>
                </a:solidFill>
              </a:rPr>
              <a:t>Weak moderation risks severe brand damage (-4.0) if viral fake news spreads; strong moderation protects ecosystem reputation (+3.0, +2.0).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Strategic Normal-Form Payoff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6217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</a:tblGrid>
              <a:tr h="14020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Sharer Strategy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Platform: Weak (W)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Platform: Strong (M)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172A"/>
                          </a:solidFill>
                          <a:latin typeface="Calibri"/>
                        </a:rPr>
                        <a:t>Spread Fake News (S)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Calibri"/>
                        </a:rPr>
                        <a:t>(5.0, -4.0)
Viral Exploitation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Calibri"/>
                        </a:rPr>
                        <a:t>(-2.0, 3.0)
Active Deterrence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172A"/>
                          </a:solidFill>
                          <a:latin typeface="Calibri"/>
                        </a:rPr>
                        <a:t>Do Not Spread (N)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Calibri"/>
                        </a:rPr>
                        <a:t>(1.0, 0.0)
Laissez-Faire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059669"/>
                          </a:solidFill>
                          <a:latin typeface="Calibri"/>
                        </a:rPr>
                        <a:t>(0.0, 2.0)
Enforced Compliance
[NASH EQUILIBRIUM]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737360"/>
            <a:ext cx="4114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Georgia"/>
              </a:rPr>
              <a:t>Payoff Dynamics &amp; Strategic Rationale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284C7"/>
                </a:solidFill>
              </a:rPr>
              <a:t>Payoff Structure: </a:t>
            </a:r>
            <a:r>
              <a:rPr sz="950">
                <a:solidFill>
                  <a:srgbClr val="1E293B"/>
                </a:solidFill>
              </a:rPr>
              <a:t>Normalized utilities ordered as (u_Sharer, u_Platform).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284C7"/>
                </a:solidFill>
              </a:rPr>
              <a:t>Profile (S, W) = (5, -4): </a:t>
            </a:r>
            <a:r>
              <a:rPr sz="950">
                <a:solidFill>
                  <a:srgbClr val="1E293B"/>
                </a:solidFill>
              </a:rPr>
              <a:t>Unmitigated spreading: sharer maximizes engagement; platform suffers brand damage and ad boycotts.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284C7"/>
                </a:solidFill>
              </a:rPr>
              <a:t>Profile (S, M) = (-2, 3): </a:t>
            </a:r>
            <a:r>
              <a:rPr sz="950">
                <a:solidFill>
                  <a:srgbClr val="1E293B"/>
                </a:solidFill>
              </a:rPr>
              <a:t>Enforcement in action: downranking and penalties wipe out virality profits (-2); platform integrity rewarded (+3).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284C7"/>
                </a:solidFill>
              </a:rPr>
              <a:t>Profile (N, W) = (1, 0): </a:t>
            </a:r>
            <a:r>
              <a:rPr sz="950">
                <a:solidFill>
                  <a:srgbClr val="1E293B"/>
                </a:solidFill>
              </a:rPr>
              <a:t>Organic sharing: sharer earns modest satisfaction (+1); platform operates at neutral baseline (0).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284C7"/>
                </a:solidFill>
              </a:rPr>
              <a:t>Profile (N, M) = (0, 2): </a:t>
            </a:r>
            <a:r>
              <a:rPr sz="950">
                <a:solidFill>
                  <a:srgbClr val="1E293B"/>
                </a:solidFill>
              </a:rPr>
              <a:t>Equilibrium state: sharer complies (0); platform maintains trustworthy community (+2) net of tool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Best Responses and Nash Equilibrium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284C7"/>
                </a:solidFill>
                <a:latin typeface="Georgia"/>
              </a:rPr>
              <a:t>Step 1: Platform Dominant Strategy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E293B"/>
                </a:solidFill>
              </a:rPr>
              <a:t>Evaluate Platform utilities across both Sharer actions:
• If Sharer plays Spread (S):
  u_2(S, W) = -4.0  vs.  u_2(S, M) = +3.0
  Since 3.0 &gt; -4.0  ⇒  BR_2(S) = {M}
• If Sharer plays Do Not Spread (N):
  u_2(N, W) = 0.0  vs.  u_2(N, M) = +2.0
  Since 2.0 &gt; 0.0  ⇒  BR_2(N) = {M}
Key Finding:
Strong Moderation (M) yields strictly higher payoffs than Weak Moderation (W) in every contingency.
⇒ Strong Moderation (M) is a strictly dominant strategy!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Georgia"/>
              </a:rPr>
              <a:t>Step 2: Sharer Best Response &amp; IESDS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E293B"/>
                </a:solidFill>
              </a:rPr>
              <a:t>Iterated Elimination of Strictly Dominated Strategies (IESDS):
1. Rational Sharers anticipate that the Platform will never play dominated strategy W.
2. Eliminating column W reduces the game to Column M.
3. In the reduced game, Sharer compares:
   u_1(S, M) = -2.0  vs.  u_1(N, M) = 0.0
   Since 0.0 &gt; -2.0  ⇒  BR_1(M) = {N}
Unique Nash Equilibrium:
Strategy profile (N, M) = (Do Not Spread, Strong Moderation)
Equilibrium Payoffs: (0.0, 2.0)
Conclusion: Deterrence succeeds because the platform's threat of enforcement is credible and self-enforcing.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System Architecture: Modern Web-Native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Presentation Layer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HTML5 Single Page (index.html)
CSS3 Variables (:root / [data-theme])
Responsive Glass Panels &amp; Badges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24688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Controller Layer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JavaScript ES6+ (src/main.js)
Event Dispatcher &amp; State Coordinator
DOM Updates &amp; Real-Time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4688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Computation Engine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Mathematical Models (src/model.js)
Pure-Strategy Nash Solver
Discrete Logistic Contagion 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73736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92024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Edge Deployment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Vercel Global CDN Platform
Vite 7.3.7 Static Bundler
Zero-Backend Serverless 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284C7"/>
                </a:solidFill>
              </a:rPr>
              <a:t>Reactive Execution Loop: </a:t>
            </a:r>
            <a:r>
              <a:rPr sz="950">
                <a:solidFill>
                  <a:srgbClr val="1E293B"/>
                </a:solidFill>
              </a:rPr>
              <a:t>User adjusts slider (N, I₀, β, m) or payoff inputs → src/main.js dispatches event → src/model.js evaluates logistic recurrence &amp; Nash best responses → Inline SVG recalculates curves, shading, and KPI badges in &lt; 2ms.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Discrete Logistic Propagation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  <a:latin typeface="Georgia"/>
              </a:rPr>
              <a:t>I_{t+1} = min( N, max( 0, I_t + β · (1 - m) · I_t · (1 - I_t / N) ) )</a:t>
            </a:r>
          </a:p>
          <a:p>
            <a:pPr algn="ctr">
              <a:spcBef>
                <a:spcPts val="400"/>
              </a:spcBef>
            </a:pPr>
            <a:r>
              <a:rPr sz="1050" i="1">
                <a:solidFill>
                  <a:srgbClr val="334155"/>
                </a:solidFill>
              </a:rPr>
              <a:t>Discrete Recurrence for Misinformation Contagion with Defensive Platform Damping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Georgia"/>
              </a:rPr>
              <a:t>N (Population)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Total user network size (carrying capacity ceiling, default 10,000).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337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Georgia"/>
              </a:rPr>
              <a:t>I_t (Exposure)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Cumulative individuals exposed to the false narrative at observation step 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0040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337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Georgia"/>
              </a:rPr>
              <a:t>I_0 (Seed Nodes)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Initial misinformation seeds introducing the narrative (default 100).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Georgia"/>
              </a:rPr>
              <a:t>β (Sharing Propensity)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Peer-to-peer transmission coefficient per contact (default 0.35).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Georgia"/>
              </a:rPr>
              <a:t>m (Moderation)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Platform enforcement effectiveness; m ∈ [0, 1] (default active policy 0.50).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Georgia"/>
              </a:rPr>
              <a:t>(1 - m) Damping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Attenuates effective transmission: β_eff = β · (1 - m) = 0.175 under active policy.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Simulation Results: Baseline vs. Moderated Contagion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BASELINE OUTBREAK</a:t>
            </a:r>
          </a:p>
          <a:p>
            <a:pPr>
              <a:spcBef>
                <a:spcPts val="200"/>
              </a:spcBef>
            </a:pPr>
            <a:r>
              <a:rPr sz="1900" b="1">
                <a:solidFill>
                  <a:srgbClr val="E11D48"/>
                </a:solidFill>
                <a:latin typeface="Georgia"/>
              </a:rPr>
              <a:t>9,981</a:t>
            </a:r>
          </a:p>
          <a:p>
            <a:r>
              <a:rPr sz="850">
                <a:solidFill>
                  <a:srgbClr val="334155"/>
                </a:solidFill>
              </a:rPr>
              <a:t>99.8% of population saturated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MODERATED POLICY</a:t>
            </a:r>
          </a:p>
          <a:p>
            <a:pPr>
              <a:spcBef>
                <a:spcPts val="200"/>
              </a:spcBef>
            </a:pPr>
            <a:r>
              <a:rPr sz="1900" b="1">
                <a:solidFill>
                  <a:srgbClr val="0284C7"/>
                </a:solidFill>
                <a:latin typeface="Georgia"/>
              </a:rPr>
              <a:t>5,936</a:t>
            </a:r>
          </a:p>
          <a:p>
            <a:r>
              <a:rPr sz="850">
                <a:solidFill>
                  <a:srgbClr val="334155"/>
                </a:solidFill>
              </a:rPr>
              <a:t>59.4% final exposure (m = 0.50)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EXPOSURE REDUCTION</a:t>
            </a:r>
          </a:p>
          <a:p>
            <a:pPr>
              <a:spcBef>
                <a:spcPts val="200"/>
              </a:spcBef>
            </a:pPr>
            <a:r>
              <a:rPr sz="1900" b="1">
                <a:solidFill>
                  <a:srgbClr val="059669"/>
                </a:solidFill>
                <a:latin typeface="Georgia"/>
              </a:rPr>
              <a:t>40.5%</a:t>
            </a:r>
          </a:p>
          <a:p>
            <a:r>
              <a:rPr sz="850">
                <a:solidFill>
                  <a:srgbClr val="334155"/>
                </a:solidFill>
              </a:rPr>
              <a:t>Calculated Exposure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SAVED USERS</a:t>
            </a:r>
          </a:p>
          <a:p>
            <a:pPr>
              <a:spcBef>
                <a:spcPts val="200"/>
              </a:spcBef>
            </a:pPr>
            <a:r>
              <a:rPr sz="1900" b="1">
                <a:solidFill>
                  <a:srgbClr val="059669"/>
                </a:solidFill>
                <a:latin typeface="Georgia"/>
              </a:rPr>
              <a:t>4,044</a:t>
            </a:r>
          </a:p>
          <a:p>
            <a:r>
              <a:rPr sz="850">
                <a:solidFill>
                  <a:srgbClr val="334155"/>
                </a:solidFill>
              </a:rPr>
              <a:t>Infections Prevented by Moderation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6858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_diffusion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6675120" cy="46934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72400" y="3108960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24612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Georgia"/>
              </a:rPr>
              <a:t>Empirical Takeaways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284C7"/>
                </a:solidFill>
              </a:rPr>
              <a:t>Saturation Flattening: </a:t>
            </a:r>
            <a:r>
              <a:rPr sz="900">
                <a:solidFill>
                  <a:srgbClr val="1E293B"/>
                </a:solidFill>
              </a:rPr>
              <a:t>Laissez-faire baseline (m = 0.00) saturates 99.8% of users. Active moderation (m = 0.50) caps exposure at 59.4%.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284C7"/>
                </a:solidFill>
              </a:rPr>
              <a:t>Inflection Point Shift: </a:t>
            </a:r>
            <a:r>
              <a:rPr sz="900">
                <a:solidFill>
                  <a:srgbClr val="1E293B"/>
                </a:solidFill>
              </a:rPr>
              <a:t>Maximum infection acceleration is postponed from Step 14 to Step 28, granting defense teams response time.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284C7"/>
                </a:solidFill>
              </a:rPr>
              <a:t>Intervention Delta: </a:t>
            </a:r>
            <a:r>
              <a:rPr sz="900">
                <a:solidFill>
                  <a:srgbClr val="1E293B"/>
                </a:solidFill>
              </a:rPr>
              <a:t>Green shaded region visualizes 4,044 users completely shielded from narrative contact.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Application Demonstration: Interactive Web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payoff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34718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77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284C7"/>
                </a:solidFill>
              </a:rPr>
              <a:t>Strategic Game Interface: </a:t>
            </a:r>
            <a:r>
              <a:rPr sz="950"/>
              <a:t>Interactive 2×2 payoff matrix with real-time Nash cell glowing pulse, best-response badges, scenario presets, and custom payoff editor.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light_mod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029200" cy="35361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5778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59669"/>
                </a:solidFill>
              </a:rPr>
              <a:t>Dual-Theme Accessibility: </a:t>
            </a:r>
            <a:r>
              <a:rPr sz="950"/>
              <a:t>WCAG-compliant light mode ('Paper') and dark mode ('Cyber Threat Intelligence') ensuring maximum text readability across presentation projectors.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alibri"/>
              </a:rPr>
              <a:t>GAME THEORY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Georgia"/>
              </a:rPr>
              <a:t>Conclusion and Future Research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Georgia"/>
              </a:rPr>
              <a:t>Key Project Conclusions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284C7"/>
                </a:solidFill>
              </a:rPr>
              <a:t>Strategic Deterrence is Primary: </a:t>
            </a:r>
            <a:r>
              <a:rPr sz="900">
                <a:solidFill>
                  <a:srgbClr val="1E293B"/>
                </a:solidFill>
              </a:rPr>
              <a:t>Platform moderation is a strategic dilemma. When moderation enforcement is credible (Strong Moderation strictly dominant), rational agents voluntarily refrain from viral propagation.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284C7"/>
                </a:solidFill>
              </a:rPr>
              <a:t>Unique Self-Enforcing Nash Equilibrium: </a:t>
            </a:r>
            <a:r>
              <a:rPr sz="900">
                <a:solidFill>
                  <a:srgbClr val="1E293B"/>
                </a:solidFill>
              </a:rPr>
              <a:t>Profile (N, M) with payoffs (0.0, 2.0) is the unique pure-strategy Nash equilibrium, confirmed via best responses and IESDS.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284C7"/>
                </a:solidFill>
              </a:rPr>
              <a:t>Macroscopic Protection: </a:t>
            </a:r>
            <a:r>
              <a:rPr sz="900">
                <a:solidFill>
                  <a:srgbClr val="1E293B"/>
                </a:solidFill>
              </a:rPr>
              <a:t>Simulated intervention (m = 0.50) reduces exposure by 40.5% and preserves 4,044 out of 10,000 individuals from narrative contact.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284C7"/>
                </a:solidFill>
              </a:rPr>
              <a:t>Production Web Dashboard: </a:t>
            </a:r>
            <a:r>
              <a:rPr sz="900">
                <a:solidFill>
                  <a:srgbClr val="1E293B"/>
                </a:solidFill>
              </a:rPr>
              <a:t>Zero-backend, client-side JavaScript architecture deployed globally on Vercel enables accessible educational exploration.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9669"/>
                </a:solidFill>
                <a:latin typeface="Georgia"/>
              </a:rPr>
              <a:t>Future Research Directions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59669"/>
                </a:solidFill>
              </a:rPr>
              <a:t>Multi-Stage Repeated Games: </a:t>
            </a:r>
            <a:r>
              <a:rPr sz="900">
                <a:solidFill>
                  <a:srgbClr val="1E293B"/>
                </a:solidFill>
              </a:rPr>
              <a:t>Formulate infinitely repeated games with discount factor δ to evaluate how user reputation histories influence deterrence stability.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59669"/>
                </a:solidFill>
              </a:rPr>
              <a:t>Bayesian Incomplete Information: </a:t>
            </a:r>
            <a:r>
              <a:rPr sz="900">
                <a:solidFill>
                  <a:srgbClr val="1E293B"/>
                </a:solidFill>
              </a:rPr>
              <a:t>Model uncertainty where the platform does not know whether a creator is a profit-driven spammer or an ideologically motivated zealot.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59669"/>
                </a:solidFill>
              </a:rPr>
              <a:t>Scale-Free Topology Coupling: </a:t>
            </a:r>
            <a:r>
              <a:rPr sz="900">
                <a:solidFill>
                  <a:srgbClr val="1E293B"/>
                </a:solidFill>
              </a:rPr>
              <a:t>Integrate heterogeneous Barabási–Albert networks to evaluate targeted hub immunization vs uniform moderation.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59669"/>
                </a:solidFill>
              </a:rPr>
              <a:t>Multi-Agent Reinforcement Learning: </a:t>
            </a:r>
            <a:r>
              <a:rPr sz="900">
                <a:solidFill>
                  <a:srgbClr val="1E293B"/>
                </a:solidFill>
              </a:rPr>
              <a:t>Simulate adaptive adversaries evolving adversarial text phrasing to circumvent automated platform classifiers.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